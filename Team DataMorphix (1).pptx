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nton" pitchFamily="2" charset="0"/>
      <p:regular r:id="rId9"/>
    </p:embeddedFont>
    <p:embeddedFont>
      <p:font typeface="Canva Sans" panose="020B0604020202020204" charset="0"/>
      <p:regular r:id="rId10"/>
    </p:embeddedFont>
    <p:embeddedFont>
      <p:font typeface="Chewy" panose="020B0604020202020204" charset="0"/>
      <p:regular r:id="rId11"/>
    </p:embeddedFont>
    <p:embeddedFont>
      <p:font typeface="Inter" panose="020B0604020202020204" charset="0"/>
      <p:regular r:id="rId12"/>
    </p:embeddedFont>
    <p:embeddedFont>
      <p:font typeface="Inter Bold" panose="020B0604020202020204" charset="0"/>
      <p:regular r:id="rId13"/>
    </p:embeddedFont>
    <p:embeddedFont>
      <p:font typeface="Lilita One" panose="020B0604020202020204" charset="0"/>
      <p:regular r:id="rId14"/>
    </p:embeddedFont>
    <p:embeddedFont>
      <p:font typeface="Times New Roman Bold" panose="02020803070505020304" pitchFamily="18"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hyperlink" Target="https://github.com/YugPatel11/DataMorphix"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9"/>
            <a:ext cx="18288000" cy="10287019"/>
            <a:chOff x="0" y="0"/>
            <a:chExt cx="24384000" cy="13716025"/>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3038125" y="555031"/>
            <a:ext cx="1792672" cy="614162"/>
            <a:chOff x="0" y="0"/>
            <a:chExt cx="2390229" cy="818883"/>
          </a:xfrm>
        </p:grpSpPr>
        <p:sp>
          <p:nvSpPr>
            <p:cNvPr id="5" name="Freeform 5"/>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6" name="Group 6"/>
          <p:cNvGrpSpPr/>
          <p:nvPr/>
        </p:nvGrpSpPr>
        <p:grpSpPr>
          <a:xfrm>
            <a:off x="2086813" y="555050"/>
            <a:ext cx="1856937" cy="614153"/>
            <a:chOff x="0" y="0"/>
            <a:chExt cx="2475916" cy="818871"/>
          </a:xfrm>
        </p:grpSpPr>
        <p:sp>
          <p:nvSpPr>
            <p:cNvPr id="7" name="Freeform 7"/>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395052"/>
            <a:chOff x="0" y="0"/>
            <a:chExt cx="24384000" cy="13860069"/>
          </a:xfrm>
        </p:grpSpPr>
        <p:sp>
          <p:nvSpPr>
            <p:cNvPr id="3" name="Freeform 3"/>
            <p:cNvSpPr/>
            <p:nvPr/>
          </p:nvSpPr>
          <p:spPr>
            <a:xfrm>
              <a:off x="0" y="0"/>
              <a:ext cx="24384000" cy="13860018"/>
            </a:xfrm>
            <a:custGeom>
              <a:avLst/>
              <a:gdLst/>
              <a:ahLst/>
              <a:cxnLst/>
              <a:rect l="l" t="t" r="r" b="b"/>
              <a:pathLst>
                <a:path w="24384000" h="13860018">
                  <a:moveTo>
                    <a:pt x="0" y="0"/>
                  </a:moveTo>
                  <a:lnTo>
                    <a:pt x="24384000" y="0"/>
                  </a:lnTo>
                  <a:lnTo>
                    <a:pt x="24384000" y="13860018"/>
                  </a:lnTo>
                  <a:lnTo>
                    <a:pt x="0" y="13860018"/>
                  </a:lnTo>
                  <a:lnTo>
                    <a:pt x="0" y="0"/>
                  </a:lnTo>
                  <a:close/>
                </a:path>
              </a:pathLst>
            </a:custGeom>
            <a:blipFill>
              <a:blip r:embed="rId3"/>
              <a:stretch>
                <a:fillRect l="-525" r="-525"/>
              </a:stretch>
            </a:blipFill>
          </p:spPr>
        </p:sp>
      </p:grpSp>
      <p:sp>
        <p:nvSpPr>
          <p:cNvPr id="4" name="TextBox 4"/>
          <p:cNvSpPr txBox="1"/>
          <p:nvPr/>
        </p:nvSpPr>
        <p:spPr>
          <a:xfrm>
            <a:off x="1153020" y="1763297"/>
            <a:ext cx="7543952" cy="1442923"/>
          </a:xfrm>
          <a:prstGeom prst="rect">
            <a:avLst/>
          </a:prstGeom>
        </p:spPr>
        <p:txBody>
          <a:bodyPr lIns="0" tIns="0" rIns="0" bIns="0" rtlCol="0" anchor="t">
            <a:spAutoFit/>
          </a:bodyPr>
          <a:lstStyle/>
          <a:p>
            <a:pPr algn="l">
              <a:lnSpc>
                <a:spcPts val="6480"/>
              </a:lnSpc>
            </a:pPr>
            <a:r>
              <a:rPr lang="en-US" sz="5400" u="sng">
                <a:solidFill>
                  <a:srgbClr val="FFFFFF"/>
                </a:solidFill>
                <a:latin typeface="Times New Roman"/>
                <a:ea typeface="Times New Roman"/>
                <a:cs typeface="Times New Roman"/>
                <a:sym typeface="Times New Roman"/>
              </a:rPr>
              <a:t>Problem Statement</a:t>
            </a:r>
          </a:p>
        </p:txBody>
      </p:sp>
      <p:grpSp>
        <p:nvGrpSpPr>
          <p:cNvPr id="5" name="Group 5"/>
          <p:cNvGrpSpPr/>
          <p:nvPr/>
        </p:nvGrpSpPr>
        <p:grpSpPr>
          <a:xfrm>
            <a:off x="16388629" y="211274"/>
            <a:ext cx="1663046" cy="1616250"/>
            <a:chOff x="0" y="0"/>
            <a:chExt cx="2217395" cy="2155000"/>
          </a:xfrm>
        </p:grpSpPr>
        <p:sp>
          <p:nvSpPr>
            <p:cNvPr id="6" name="Freeform 6"/>
            <p:cNvSpPr/>
            <p:nvPr/>
          </p:nvSpPr>
          <p:spPr>
            <a:xfrm>
              <a:off x="12700" y="12700"/>
              <a:ext cx="2192020" cy="2129536"/>
            </a:xfrm>
            <a:custGeom>
              <a:avLst/>
              <a:gdLst/>
              <a:ahLst/>
              <a:cxnLst/>
              <a:rect l="l" t="t" r="r" b="b"/>
              <a:pathLst>
                <a:path w="2192020" h="2129536">
                  <a:moveTo>
                    <a:pt x="0" y="1064768"/>
                  </a:moveTo>
                  <a:cubicBezTo>
                    <a:pt x="0" y="476758"/>
                    <a:pt x="490728" y="0"/>
                    <a:pt x="1096010" y="0"/>
                  </a:cubicBezTo>
                  <a:cubicBezTo>
                    <a:pt x="1701292" y="0"/>
                    <a:pt x="2192020" y="476758"/>
                    <a:pt x="2192020" y="1064768"/>
                  </a:cubicBezTo>
                  <a:cubicBezTo>
                    <a:pt x="2192020" y="1652778"/>
                    <a:pt x="1701292" y="2129536"/>
                    <a:pt x="1096010" y="2129536"/>
                  </a:cubicBezTo>
                  <a:cubicBezTo>
                    <a:pt x="490728" y="2129536"/>
                    <a:pt x="0" y="1652905"/>
                    <a:pt x="0" y="1064768"/>
                  </a:cubicBezTo>
                  <a:close/>
                </a:path>
              </a:pathLst>
            </a:custGeom>
            <a:solidFill>
              <a:srgbClr val="EEEEEE"/>
            </a:solidFill>
          </p:spPr>
        </p:sp>
        <p:sp>
          <p:nvSpPr>
            <p:cNvPr id="7" name="Freeform 7"/>
            <p:cNvSpPr/>
            <p:nvPr/>
          </p:nvSpPr>
          <p:spPr>
            <a:xfrm>
              <a:off x="0" y="0"/>
              <a:ext cx="2217420" cy="2154936"/>
            </a:xfrm>
            <a:custGeom>
              <a:avLst/>
              <a:gdLst/>
              <a:ahLst/>
              <a:cxnLst/>
              <a:rect l="l" t="t" r="r" b="b"/>
              <a:pathLst>
                <a:path w="2217420" h="2154936">
                  <a:moveTo>
                    <a:pt x="0" y="1077468"/>
                  </a:moveTo>
                  <a:cubicBezTo>
                    <a:pt x="0" y="482092"/>
                    <a:pt x="496697" y="0"/>
                    <a:pt x="1108710" y="0"/>
                  </a:cubicBezTo>
                  <a:lnTo>
                    <a:pt x="1108710" y="12700"/>
                  </a:lnTo>
                  <a:lnTo>
                    <a:pt x="1108710" y="0"/>
                  </a:lnTo>
                  <a:cubicBezTo>
                    <a:pt x="1720723" y="0"/>
                    <a:pt x="2217420" y="482092"/>
                    <a:pt x="2217420" y="1077468"/>
                  </a:cubicBezTo>
                  <a:lnTo>
                    <a:pt x="2204720" y="1077468"/>
                  </a:lnTo>
                  <a:lnTo>
                    <a:pt x="2217420" y="1077468"/>
                  </a:lnTo>
                  <a:cubicBezTo>
                    <a:pt x="2217420" y="1672844"/>
                    <a:pt x="1720723" y="2154936"/>
                    <a:pt x="1108710" y="2154936"/>
                  </a:cubicBezTo>
                  <a:lnTo>
                    <a:pt x="1108710" y="2142236"/>
                  </a:lnTo>
                  <a:lnTo>
                    <a:pt x="1108710" y="2154936"/>
                  </a:lnTo>
                  <a:cubicBezTo>
                    <a:pt x="496697" y="2155063"/>
                    <a:pt x="0" y="1672971"/>
                    <a:pt x="0" y="1077468"/>
                  </a:cubicBezTo>
                  <a:lnTo>
                    <a:pt x="12700" y="1077468"/>
                  </a:lnTo>
                  <a:lnTo>
                    <a:pt x="25400" y="1077468"/>
                  </a:lnTo>
                  <a:lnTo>
                    <a:pt x="12700" y="1077468"/>
                  </a:lnTo>
                  <a:lnTo>
                    <a:pt x="0" y="1077468"/>
                  </a:lnTo>
                  <a:moveTo>
                    <a:pt x="25400" y="1077468"/>
                  </a:moveTo>
                  <a:cubicBezTo>
                    <a:pt x="25400" y="1084453"/>
                    <a:pt x="19685" y="1090168"/>
                    <a:pt x="12700" y="1090168"/>
                  </a:cubicBezTo>
                  <a:cubicBezTo>
                    <a:pt x="5715" y="1090168"/>
                    <a:pt x="0" y="1084453"/>
                    <a:pt x="0" y="1077468"/>
                  </a:cubicBezTo>
                  <a:cubicBezTo>
                    <a:pt x="0" y="1070483"/>
                    <a:pt x="5715" y="1064768"/>
                    <a:pt x="12700" y="1064768"/>
                  </a:cubicBezTo>
                  <a:cubicBezTo>
                    <a:pt x="19685" y="1064768"/>
                    <a:pt x="25400" y="1070483"/>
                    <a:pt x="25400" y="1077468"/>
                  </a:cubicBezTo>
                  <a:cubicBezTo>
                    <a:pt x="25400" y="1658239"/>
                    <a:pt x="510032" y="2129536"/>
                    <a:pt x="1108710" y="2129536"/>
                  </a:cubicBezTo>
                  <a:cubicBezTo>
                    <a:pt x="1707388" y="2129536"/>
                    <a:pt x="2192020" y="1658112"/>
                    <a:pt x="2192020" y="1077468"/>
                  </a:cubicBezTo>
                  <a:cubicBezTo>
                    <a:pt x="2192020" y="496824"/>
                    <a:pt x="1707388" y="25400"/>
                    <a:pt x="1108710" y="25400"/>
                  </a:cubicBezTo>
                  <a:lnTo>
                    <a:pt x="1108710" y="12700"/>
                  </a:lnTo>
                  <a:lnTo>
                    <a:pt x="1108710" y="25400"/>
                  </a:lnTo>
                  <a:cubicBezTo>
                    <a:pt x="510032" y="25400"/>
                    <a:pt x="25400" y="496824"/>
                    <a:pt x="25400" y="1077468"/>
                  </a:cubicBezTo>
                  <a:close/>
                </a:path>
              </a:pathLst>
            </a:custGeom>
            <a:solidFill>
              <a:srgbClr val="595959"/>
            </a:solidFill>
          </p:spPr>
        </p:sp>
        <p:sp>
          <p:nvSpPr>
            <p:cNvPr id="8" name="TextBox 8"/>
            <p:cNvSpPr txBox="1"/>
            <p:nvPr/>
          </p:nvSpPr>
          <p:spPr>
            <a:xfrm>
              <a:off x="0" y="-38100"/>
              <a:ext cx="2217395" cy="2193100"/>
            </a:xfrm>
            <a:prstGeom prst="rect">
              <a:avLst/>
            </a:prstGeom>
          </p:spPr>
          <p:txBody>
            <a:bodyPr lIns="50800" tIns="50800" rIns="50800" bIns="50800" rtlCol="0" anchor="ctr"/>
            <a:lstStyle/>
            <a:p>
              <a:pPr algn="ctr">
                <a:lnSpc>
                  <a:spcPts val="6719"/>
                </a:lnSpc>
              </a:pPr>
              <a:r>
                <a:rPr lang="en-US" sz="5599" b="1">
                  <a:solidFill>
                    <a:srgbClr val="000000"/>
                  </a:solidFill>
                  <a:latin typeface="Times New Roman Bold"/>
                  <a:ea typeface="Times New Roman Bold"/>
                  <a:cs typeface="Times New Roman Bold"/>
                  <a:sym typeface="Times New Roman Bold"/>
                </a:rPr>
                <a:t>2</a:t>
              </a:r>
            </a:p>
          </p:txBody>
        </p:sp>
      </p:grpSp>
      <p:grpSp>
        <p:nvGrpSpPr>
          <p:cNvPr id="9" name="Group 9"/>
          <p:cNvGrpSpPr/>
          <p:nvPr/>
        </p:nvGrpSpPr>
        <p:grpSpPr>
          <a:xfrm>
            <a:off x="13080473" y="555050"/>
            <a:ext cx="1792672" cy="614162"/>
            <a:chOff x="0" y="0"/>
            <a:chExt cx="2390229" cy="818883"/>
          </a:xfrm>
        </p:grpSpPr>
        <p:sp>
          <p:nvSpPr>
            <p:cNvPr id="10" name="Freeform 10"/>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11" name="Group 11"/>
          <p:cNvGrpSpPr/>
          <p:nvPr/>
        </p:nvGrpSpPr>
        <p:grpSpPr>
          <a:xfrm>
            <a:off x="2086813" y="555050"/>
            <a:ext cx="1856937" cy="614153"/>
            <a:chOff x="0" y="0"/>
            <a:chExt cx="2475916" cy="818871"/>
          </a:xfrm>
        </p:grpSpPr>
        <p:sp>
          <p:nvSpPr>
            <p:cNvPr id="12" name="Freeform 12"/>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sp>
        <p:nvSpPr>
          <p:cNvPr id="13" name="TextBox 13"/>
          <p:cNvSpPr txBox="1"/>
          <p:nvPr/>
        </p:nvSpPr>
        <p:spPr>
          <a:xfrm>
            <a:off x="2015595" y="3205553"/>
            <a:ext cx="14256810" cy="4411628"/>
          </a:xfrm>
          <a:prstGeom prst="rect">
            <a:avLst/>
          </a:prstGeom>
        </p:spPr>
        <p:txBody>
          <a:bodyPr lIns="0" tIns="0" rIns="0" bIns="0" rtlCol="0" anchor="t">
            <a:spAutoFit/>
          </a:bodyPr>
          <a:lstStyle/>
          <a:p>
            <a:pPr algn="l">
              <a:lnSpc>
                <a:spcPts val="4800"/>
              </a:lnSpc>
            </a:pPr>
            <a:r>
              <a:rPr lang="en-US" sz="4000">
                <a:solidFill>
                  <a:srgbClr val="FFFFFF"/>
                </a:solidFill>
                <a:latin typeface="Inter"/>
                <a:ea typeface="Inter"/>
                <a:cs typeface="Inter"/>
                <a:sym typeface="Inter"/>
              </a:rPr>
              <a:t>Build an </a:t>
            </a:r>
            <a:r>
              <a:rPr lang="en-US" sz="4000" b="1">
                <a:solidFill>
                  <a:srgbClr val="FFFFFF"/>
                </a:solidFill>
                <a:latin typeface="Inter Bold"/>
                <a:ea typeface="Inter Bold"/>
                <a:cs typeface="Inter Bold"/>
                <a:sym typeface="Inter Bold"/>
              </a:rPr>
              <a:t>Intelligent Data Dictionary Agent</a:t>
            </a:r>
            <a:r>
              <a:rPr lang="en-US" sz="4000">
                <a:solidFill>
                  <a:srgbClr val="FFFFFF"/>
                </a:solidFill>
                <a:latin typeface="Inter"/>
                <a:ea typeface="Inter"/>
                <a:cs typeface="Inter"/>
                <a:sym typeface="Inter"/>
              </a:rPr>
              <a:t> that leverages AI to automatically interpret complex datasets and generate contextual metadata, including column definitions, data lineage, relationships, and usage insights. The system should enable natural language interaction, allowing users to query and understand datasets easily, while ensuring consistency, governance, and real-time updates across evolving data sources.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6388629" y="211274"/>
            <a:ext cx="1663046" cy="1616250"/>
            <a:chOff x="0" y="0"/>
            <a:chExt cx="2217395" cy="2155000"/>
          </a:xfrm>
        </p:grpSpPr>
        <p:sp>
          <p:nvSpPr>
            <p:cNvPr id="5" name="Freeform 5"/>
            <p:cNvSpPr/>
            <p:nvPr/>
          </p:nvSpPr>
          <p:spPr>
            <a:xfrm>
              <a:off x="12700" y="12700"/>
              <a:ext cx="2192020" cy="2129536"/>
            </a:xfrm>
            <a:custGeom>
              <a:avLst/>
              <a:gdLst/>
              <a:ahLst/>
              <a:cxnLst/>
              <a:rect l="l" t="t" r="r" b="b"/>
              <a:pathLst>
                <a:path w="2192020" h="2129536">
                  <a:moveTo>
                    <a:pt x="0" y="1064768"/>
                  </a:moveTo>
                  <a:cubicBezTo>
                    <a:pt x="0" y="476758"/>
                    <a:pt x="490728" y="0"/>
                    <a:pt x="1096010" y="0"/>
                  </a:cubicBezTo>
                  <a:cubicBezTo>
                    <a:pt x="1701292" y="0"/>
                    <a:pt x="2192020" y="476758"/>
                    <a:pt x="2192020" y="1064768"/>
                  </a:cubicBezTo>
                  <a:cubicBezTo>
                    <a:pt x="2192020" y="1652778"/>
                    <a:pt x="1701292" y="2129536"/>
                    <a:pt x="1096010" y="2129536"/>
                  </a:cubicBezTo>
                  <a:cubicBezTo>
                    <a:pt x="490728" y="2129536"/>
                    <a:pt x="0" y="1652905"/>
                    <a:pt x="0" y="1064768"/>
                  </a:cubicBezTo>
                  <a:close/>
                </a:path>
              </a:pathLst>
            </a:custGeom>
            <a:solidFill>
              <a:srgbClr val="EEEEEE"/>
            </a:solidFill>
          </p:spPr>
        </p:sp>
        <p:sp>
          <p:nvSpPr>
            <p:cNvPr id="6" name="Freeform 6"/>
            <p:cNvSpPr/>
            <p:nvPr/>
          </p:nvSpPr>
          <p:spPr>
            <a:xfrm>
              <a:off x="0" y="0"/>
              <a:ext cx="2217420" cy="2154936"/>
            </a:xfrm>
            <a:custGeom>
              <a:avLst/>
              <a:gdLst/>
              <a:ahLst/>
              <a:cxnLst/>
              <a:rect l="l" t="t" r="r" b="b"/>
              <a:pathLst>
                <a:path w="2217420" h="2154936">
                  <a:moveTo>
                    <a:pt x="0" y="1077468"/>
                  </a:moveTo>
                  <a:cubicBezTo>
                    <a:pt x="0" y="482092"/>
                    <a:pt x="496697" y="0"/>
                    <a:pt x="1108710" y="0"/>
                  </a:cubicBezTo>
                  <a:lnTo>
                    <a:pt x="1108710" y="12700"/>
                  </a:lnTo>
                  <a:lnTo>
                    <a:pt x="1108710" y="0"/>
                  </a:lnTo>
                  <a:cubicBezTo>
                    <a:pt x="1720723" y="0"/>
                    <a:pt x="2217420" y="482092"/>
                    <a:pt x="2217420" y="1077468"/>
                  </a:cubicBezTo>
                  <a:lnTo>
                    <a:pt x="2204720" y="1077468"/>
                  </a:lnTo>
                  <a:lnTo>
                    <a:pt x="2217420" y="1077468"/>
                  </a:lnTo>
                  <a:cubicBezTo>
                    <a:pt x="2217420" y="1672844"/>
                    <a:pt x="1720723" y="2154936"/>
                    <a:pt x="1108710" y="2154936"/>
                  </a:cubicBezTo>
                  <a:lnTo>
                    <a:pt x="1108710" y="2142236"/>
                  </a:lnTo>
                  <a:lnTo>
                    <a:pt x="1108710" y="2154936"/>
                  </a:lnTo>
                  <a:cubicBezTo>
                    <a:pt x="496697" y="2155063"/>
                    <a:pt x="0" y="1672971"/>
                    <a:pt x="0" y="1077468"/>
                  </a:cubicBezTo>
                  <a:lnTo>
                    <a:pt x="12700" y="1077468"/>
                  </a:lnTo>
                  <a:lnTo>
                    <a:pt x="25400" y="1077468"/>
                  </a:lnTo>
                  <a:lnTo>
                    <a:pt x="12700" y="1077468"/>
                  </a:lnTo>
                  <a:lnTo>
                    <a:pt x="0" y="1077468"/>
                  </a:lnTo>
                  <a:moveTo>
                    <a:pt x="25400" y="1077468"/>
                  </a:moveTo>
                  <a:cubicBezTo>
                    <a:pt x="25400" y="1084453"/>
                    <a:pt x="19685" y="1090168"/>
                    <a:pt x="12700" y="1090168"/>
                  </a:cubicBezTo>
                  <a:cubicBezTo>
                    <a:pt x="5715" y="1090168"/>
                    <a:pt x="0" y="1084453"/>
                    <a:pt x="0" y="1077468"/>
                  </a:cubicBezTo>
                  <a:cubicBezTo>
                    <a:pt x="0" y="1070483"/>
                    <a:pt x="5715" y="1064768"/>
                    <a:pt x="12700" y="1064768"/>
                  </a:cubicBezTo>
                  <a:cubicBezTo>
                    <a:pt x="19685" y="1064768"/>
                    <a:pt x="25400" y="1070483"/>
                    <a:pt x="25400" y="1077468"/>
                  </a:cubicBezTo>
                  <a:cubicBezTo>
                    <a:pt x="25400" y="1658239"/>
                    <a:pt x="510032" y="2129536"/>
                    <a:pt x="1108710" y="2129536"/>
                  </a:cubicBezTo>
                  <a:cubicBezTo>
                    <a:pt x="1707388" y="2129536"/>
                    <a:pt x="2192020" y="1658112"/>
                    <a:pt x="2192020" y="1077468"/>
                  </a:cubicBezTo>
                  <a:cubicBezTo>
                    <a:pt x="2192020" y="496824"/>
                    <a:pt x="1707388" y="25400"/>
                    <a:pt x="1108710" y="25400"/>
                  </a:cubicBezTo>
                  <a:lnTo>
                    <a:pt x="1108710" y="12700"/>
                  </a:lnTo>
                  <a:lnTo>
                    <a:pt x="1108710" y="25400"/>
                  </a:lnTo>
                  <a:cubicBezTo>
                    <a:pt x="510032" y="25400"/>
                    <a:pt x="25400" y="496824"/>
                    <a:pt x="25400" y="1077468"/>
                  </a:cubicBezTo>
                  <a:close/>
                </a:path>
              </a:pathLst>
            </a:custGeom>
            <a:solidFill>
              <a:srgbClr val="595959"/>
            </a:solidFill>
          </p:spPr>
        </p:sp>
        <p:sp>
          <p:nvSpPr>
            <p:cNvPr id="7" name="TextBox 7"/>
            <p:cNvSpPr txBox="1"/>
            <p:nvPr/>
          </p:nvSpPr>
          <p:spPr>
            <a:xfrm>
              <a:off x="0" y="-38100"/>
              <a:ext cx="2217395" cy="2193100"/>
            </a:xfrm>
            <a:prstGeom prst="rect">
              <a:avLst/>
            </a:prstGeom>
          </p:spPr>
          <p:txBody>
            <a:bodyPr lIns="50800" tIns="50800" rIns="50800" bIns="50800" rtlCol="0" anchor="ctr"/>
            <a:lstStyle/>
            <a:p>
              <a:pPr algn="ctr">
                <a:lnSpc>
                  <a:spcPts val="6719"/>
                </a:lnSpc>
              </a:pPr>
              <a:r>
                <a:rPr lang="en-US" sz="5599" b="1">
                  <a:solidFill>
                    <a:srgbClr val="000000"/>
                  </a:solidFill>
                  <a:latin typeface="Times New Roman Bold"/>
                  <a:ea typeface="Times New Roman Bold"/>
                  <a:cs typeface="Times New Roman Bold"/>
                  <a:sym typeface="Times New Roman Bold"/>
                </a:rPr>
                <a:t>3</a:t>
              </a:r>
            </a:p>
          </p:txBody>
        </p:sp>
      </p:grpSp>
      <p:grpSp>
        <p:nvGrpSpPr>
          <p:cNvPr id="8" name="Group 8"/>
          <p:cNvGrpSpPr/>
          <p:nvPr/>
        </p:nvGrpSpPr>
        <p:grpSpPr>
          <a:xfrm>
            <a:off x="13038125" y="555031"/>
            <a:ext cx="1792672" cy="614162"/>
            <a:chOff x="0" y="0"/>
            <a:chExt cx="2390229" cy="818883"/>
          </a:xfrm>
        </p:grpSpPr>
        <p:sp>
          <p:nvSpPr>
            <p:cNvPr id="9" name="Freeform 9"/>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10" name="Group 10"/>
          <p:cNvGrpSpPr/>
          <p:nvPr/>
        </p:nvGrpSpPr>
        <p:grpSpPr>
          <a:xfrm>
            <a:off x="2086813" y="555050"/>
            <a:ext cx="1856937" cy="614153"/>
            <a:chOff x="0" y="0"/>
            <a:chExt cx="2475916" cy="818871"/>
          </a:xfrm>
        </p:grpSpPr>
        <p:sp>
          <p:nvSpPr>
            <p:cNvPr id="11" name="Freeform 11"/>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sp>
        <p:nvSpPr>
          <p:cNvPr id="12" name="TextBox 12"/>
          <p:cNvSpPr txBox="1"/>
          <p:nvPr/>
        </p:nvSpPr>
        <p:spPr>
          <a:xfrm>
            <a:off x="1008155" y="3409320"/>
            <a:ext cx="17043521" cy="4705350"/>
          </a:xfrm>
          <a:prstGeom prst="rect">
            <a:avLst/>
          </a:prstGeom>
        </p:spPr>
        <p:txBody>
          <a:bodyPr lIns="0" tIns="0" rIns="0" bIns="0" rtlCol="0" anchor="t">
            <a:spAutoFit/>
          </a:bodyPr>
          <a:lstStyle/>
          <a:p>
            <a:pPr algn="l">
              <a:lnSpc>
                <a:spcPts val="3120"/>
              </a:lnSpc>
            </a:pPr>
            <a:r>
              <a:rPr lang="en-US" sz="2600">
                <a:solidFill>
                  <a:srgbClr val="FFFFFF"/>
                </a:solidFill>
                <a:latin typeface="Lilita One"/>
                <a:ea typeface="Lilita One"/>
                <a:cs typeface="Lilita One"/>
                <a:sym typeface="Lilita One"/>
              </a:rPr>
              <a:t>DataMorphix is an AI-powered Intelligent Data Dictionary platform designed to automatically analyze, understand, and document complex datasets. The system helps users explore datasets without manually reading schemas or technical documentation.</a:t>
            </a:r>
          </a:p>
          <a:p>
            <a:pPr algn="l">
              <a:lnSpc>
                <a:spcPts val="3120"/>
              </a:lnSpc>
            </a:pPr>
            <a:r>
              <a:rPr lang="en-US" sz="2600">
                <a:solidFill>
                  <a:srgbClr val="FFFFFF"/>
                </a:solidFill>
                <a:latin typeface="Lilita One"/>
                <a:ea typeface="Lilita One"/>
                <a:cs typeface="Lilita One"/>
                <a:sym typeface="Lilita One"/>
              </a:rPr>
              <a:t>Users can upload datasets such as CSV, Excel, or JSON files, and the AI engine automatically:</a:t>
            </a:r>
          </a:p>
          <a:p>
            <a:pPr algn="l">
              <a:lnSpc>
                <a:spcPts val="3120"/>
              </a:lnSpc>
            </a:pPr>
            <a:r>
              <a:rPr lang="en-US" sz="2600">
                <a:solidFill>
                  <a:srgbClr val="FFFFFF"/>
                </a:solidFill>
                <a:latin typeface="Lilita One"/>
                <a:ea typeface="Lilita One"/>
                <a:cs typeface="Lilita One"/>
                <a:sym typeface="Lilita One"/>
              </a:rPr>
              <a:t>interprets columns,</a:t>
            </a:r>
          </a:p>
          <a:p>
            <a:pPr algn="l">
              <a:lnSpc>
                <a:spcPts val="3120"/>
              </a:lnSpc>
            </a:pPr>
            <a:r>
              <a:rPr lang="en-US" sz="2600">
                <a:solidFill>
                  <a:srgbClr val="FFFFFF"/>
                </a:solidFill>
                <a:latin typeface="Lilita One"/>
                <a:ea typeface="Lilita One"/>
                <a:cs typeface="Lilita One"/>
                <a:sym typeface="Lilita One"/>
              </a:rPr>
              <a:t>generates metadata,</a:t>
            </a:r>
          </a:p>
          <a:p>
            <a:pPr algn="l">
              <a:lnSpc>
                <a:spcPts val="3120"/>
              </a:lnSpc>
            </a:pPr>
            <a:r>
              <a:rPr lang="en-US" sz="2600">
                <a:solidFill>
                  <a:srgbClr val="FFFFFF"/>
                </a:solidFill>
                <a:latin typeface="Lilita One"/>
                <a:ea typeface="Lilita One"/>
                <a:cs typeface="Lilita One"/>
                <a:sym typeface="Lilita One"/>
              </a:rPr>
              <a:t>detects relationships,</a:t>
            </a:r>
          </a:p>
          <a:p>
            <a:pPr algn="l">
              <a:lnSpc>
                <a:spcPts val="3120"/>
              </a:lnSpc>
            </a:pPr>
            <a:r>
              <a:rPr lang="en-US" sz="2600">
                <a:solidFill>
                  <a:srgbClr val="FFFFFF"/>
                </a:solidFill>
                <a:latin typeface="Lilita One"/>
                <a:ea typeface="Lilita One"/>
                <a:cs typeface="Lilita One"/>
                <a:sym typeface="Lilita One"/>
              </a:rPr>
              <a:t>tracks data lineage,</a:t>
            </a:r>
          </a:p>
          <a:p>
            <a:pPr algn="l">
              <a:lnSpc>
                <a:spcPts val="3120"/>
              </a:lnSpc>
            </a:pPr>
            <a:r>
              <a:rPr lang="en-US" sz="2600">
                <a:solidFill>
                  <a:srgbClr val="FFFFFF"/>
                </a:solidFill>
                <a:latin typeface="Lilita One"/>
                <a:ea typeface="Lilita One"/>
                <a:cs typeface="Lilita One"/>
                <a:sym typeface="Lilita One"/>
              </a:rPr>
              <a:t>provides usage insights,</a:t>
            </a:r>
          </a:p>
          <a:p>
            <a:pPr algn="l">
              <a:lnSpc>
                <a:spcPts val="3120"/>
              </a:lnSpc>
            </a:pPr>
            <a:r>
              <a:rPr lang="en-US" sz="2600">
                <a:solidFill>
                  <a:srgbClr val="FFFFFF"/>
                </a:solidFill>
                <a:latin typeface="Lilita One"/>
                <a:ea typeface="Lilita One"/>
                <a:cs typeface="Lilita One"/>
                <a:sym typeface="Lilita One"/>
              </a:rPr>
              <a:t>and answers dataset-related questions using natural language interaction.</a:t>
            </a:r>
          </a:p>
          <a:p>
            <a:pPr algn="l">
              <a:lnSpc>
                <a:spcPts val="3120"/>
              </a:lnSpc>
            </a:pPr>
            <a:r>
              <a:rPr lang="en-US" sz="2600">
                <a:solidFill>
                  <a:srgbClr val="FFFFFF"/>
                </a:solidFill>
                <a:latin typeface="Lilita One"/>
                <a:ea typeface="Lilita One"/>
                <a:cs typeface="Lilita One"/>
                <a:sym typeface="Lilita One"/>
              </a:rPr>
              <a:t>The platform combines AI analysis, metadata intelligence, and graph-based relationship visualization to simplify data understanding and governance.</a:t>
            </a:r>
          </a:p>
        </p:txBody>
      </p:sp>
      <p:sp>
        <p:nvSpPr>
          <p:cNvPr id="13" name="TextBox 13"/>
          <p:cNvSpPr txBox="1"/>
          <p:nvPr/>
        </p:nvSpPr>
        <p:spPr>
          <a:xfrm>
            <a:off x="1153020" y="1763297"/>
            <a:ext cx="7543952" cy="1442923"/>
          </a:xfrm>
          <a:prstGeom prst="rect">
            <a:avLst/>
          </a:prstGeom>
        </p:spPr>
        <p:txBody>
          <a:bodyPr lIns="0" tIns="0" rIns="0" bIns="0" rtlCol="0" anchor="t">
            <a:spAutoFit/>
          </a:bodyPr>
          <a:lstStyle/>
          <a:p>
            <a:pPr algn="l">
              <a:lnSpc>
                <a:spcPts val="6480"/>
              </a:lnSpc>
            </a:pPr>
            <a:r>
              <a:rPr lang="en-US" sz="5400" u="sng">
                <a:solidFill>
                  <a:srgbClr val="FFFFFF"/>
                </a:solidFill>
                <a:latin typeface="Times New Roman"/>
                <a:ea typeface="Times New Roman"/>
                <a:cs typeface="Times New Roman"/>
                <a:sym typeface="Times New Roman"/>
              </a:rPr>
              <a:t>Solution</a:t>
            </a:r>
          </a:p>
        </p:txBody>
      </p:sp>
      <p:grpSp>
        <p:nvGrpSpPr>
          <p:cNvPr id="14" name="Group 14"/>
          <p:cNvGrpSpPr/>
          <p:nvPr/>
        </p:nvGrpSpPr>
        <p:grpSpPr>
          <a:xfrm>
            <a:off x="6313884" y="1622473"/>
            <a:ext cx="9899768" cy="1444478"/>
            <a:chOff x="0" y="0"/>
            <a:chExt cx="2916452" cy="425540"/>
          </a:xfrm>
        </p:grpSpPr>
        <p:sp>
          <p:nvSpPr>
            <p:cNvPr id="15" name="Freeform 15"/>
            <p:cNvSpPr/>
            <p:nvPr/>
          </p:nvSpPr>
          <p:spPr>
            <a:xfrm>
              <a:off x="0" y="0"/>
              <a:ext cx="2916452" cy="425540"/>
            </a:xfrm>
            <a:custGeom>
              <a:avLst/>
              <a:gdLst/>
              <a:ahLst/>
              <a:cxnLst/>
              <a:rect l="l" t="t" r="r" b="b"/>
              <a:pathLst>
                <a:path w="2916452" h="425540">
                  <a:moveTo>
                    <a:pt x="2713252" y="0"/>
                  </a:moveTo>
                  <a:cubicBezTo>
                    <a:pt x="2825476" y="0"/>
                    <a:pt x="2916452" y="95260"/>
                    <a:pt x="2916452" y="212770"/>
                  </a:cubicBezTo>
                  <a:cubicBezTo>
                    <a:pt x="2916452" y="330280"/>
                    <a:pt x="2825476" y="425540"/>
                    <a:pt x="2713252" y="425540"/>
                  </a:cubicBezTo>
                  <a:lnTo>
                    <a:pt x="203200" y="425540"/>
                  </a:lnTo>
                  <a:cubicBezTo>
                    <a:pt x="90976" y="425540"/>
                    <a:pt x="0" y="330280"/>
                    <a:pt x="0" y="212770"/>
                  </a:cubicBezTo>
                  <a:cubicBezTo>
                    <a:pt x="0" y="95260"/>
                    <a:pt x="90976" y="0"/>
                    <a:pt x="203200" y="0"/>
                  </a:cubicBezTo>
                  <a:close/>
                </a:path>
              </a:pathLst>
            </a:custGeom>
            <a:solidFill>
              <a:srgbClr val="939AB2"/>
            </a:solidFill>
          </p:spPr>
        </p:sp>
        <p:sp>
          <p:nvSpPr>
            <p:cNvPr id="16" name="TextBox 16"/>
            <p:cNvSpPr txBox="1"/>
            <p:nvPr/>
          </p:nvSpPr>
          <p:spPr>
            <a:xfrm>
              <a:off x="0" y="-38100"/>
              <a:ext cx="2916452" cy="46364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5994283" y="1736850"/>
            <a:ext cx="10538970" cy="1219200"/>
          </a:xfrm>
          <a:prstGeom prst="rect">
            <a:avLst/>
          </a:prstGeom>
        </p:spPr>
        <p:txBody>
          <a:bodyPr lIns="0" tIns="0" rIns="0" bIns="0" rtlCol="0" anchor="t">
            <a:spAutoFit/>
          </a:bodyPr>
          <a:lstStyle/>
          <a:p>
            <a:pPr algn="ctr">
              <a:lnSpc>
                <a:spcPts val="4801"/>
              </a:lnSpc>
              <a:spcBef>
                <a:spcPct val="0"/>
              </a:spcBef>
            </a:pPr>
            <a:r>
              <a:rPr lang="en-US" sz="4001">
                <a:solidFill>
                  <a:srgbClr val="FFBD59"/>
                </a:solidFill>
                <a:latin typeface="Anton"/>
                <a:ea typeface="Anton"/>
                <a:cs typeface="Anton"/>
                <a:sym typeface="Anton"/>
              </a:rPr>
              <a:t>DataMorphix : AI-Powered Intelligent Data             </a:t>
            </a:r>
          </a:p>
          <a:p>
            <a:pPr algn="ctr">
              <a:lnSpc>
                <a:spcPts val="4801"/>
              </a:lnSpc>
              <a:spcBef>
                <a:spcPct val="0"/>
              </a:spcBef>
            </a:pPr>
            <a:r>
              <a:rPr lang="en-US" sz="4001">
                <a:solidFill>
                  <a:srgbClr val="FFBD59"/>
                </a:solidFill>
                <a:latin typeface="Anton"/>
                <a:ea typeface="Anton"/>
                <a:cs typeface="Anton"/>
                <a:sym typeface="Anton"/>
              </a:rPr>
              <a:t>Dictionary Agent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16388629" y="211274"/>
            <a:ext cx="1663046" cy="1616250"/>
            <a:chOff x="0" y="0"/>
            <a:chExt cx="2217395" cy="2155000"/>
          </a:xfrm>
        </p:grpSpPr>
        <p:sp>
          <p:nvSpPr>
            <p:cNvPr id="4" name="Freeform 4"/>
            <p:cNvSpPr/>
            <p:nvPr/>
          </p:nvSpPr>
          <p:spPr>
            <a:xfrm>
              <a:off x="12700" y="12700"/>
              <a:ext cx="2192020" cy="2129536"/>
            </a:xfrm>
            <a:custGeom>
              <a:avLst/>
              <a:gdLst/>
              <a:ahLst/>
              <a:cxnLst/>
              <a:rect l="l" t="t" r="r" b="b"/>
              <a:pathLst>
                <a:path w="2192020" h="2129536">
                  <a:moveTo>
                    <a:pt x="0" y="1064768"/>
                  </a:moveTo>
                  <a:cubicBezTo>
                    <a:pt x="0" y="476758"/>
                    <a:pt x="490728" y="0"/>
                    <a:pt x="1096010" y="0"/>
                  </a:cubicBezTo>
                  <a:cubicBezTo>
                    <a:pt x="1701292" y="0"/>
                    <a:pt x="2192020" y="476758"/>
                    <a:pt x="2192020" y="1064768"/>
                  </a:cubicBezTo>
                  <a:cubicBezTo>
                    <a:pt x="2192020" y="1652778"/>
                    <a:pt x="1701292" y="2129536"/>
                    <a:pt x="1096010" y="2129536"/>
                  </a:cubicBezTo>
                  <a:cubicBezTo>
                    <a:pt x="490728" y="2129536"/>
                    <a:pt x="0" y="1652905"/>
                    <a:pt x="0" y="1064768"/>
                  </a:cubicBezTo>
                  <a:close/>
                </a:path>
              </a:pathLst>
            </a:custGeom>
            <a:solidFill>
              <a:srgbClr val="EEEEEE"/>
            </a:solidFill>
          </p:spPr>
        </p:sp>
        <p:sp>
          <p:nvSpPr>
            <p:cNvPr id="5" name="Freeform 5"/>
            <p:cNvSpPr/>
            <p:nvPr/>
          </p:nvSpPr>
          <p:spPr>
            <a:xfrm>
              <a:off x="0" y="0"/>
              <a:ext cx="2217420" cy="2154936"/>
            </a:xfrm>
            <a:custGeom>
              <a:avLst/>
              <a:gdLst/>
              <a:ahLst/>
              <a:cxnLst/>
              <a:rect l="l" t="t" r="r" b="b"/>
              <a:pathLst>
                <a:path w="2217420" h="2154936">
                  <a:moveTo>
                    <a:pt x="0" y="1077468"/>
                  </a:moveTo>
                  <a:cubicBezTo>
                    <a:pt x="0" y="482092"/>
                    <a:pt x="496697" y="0"/>
                    <a:pt x="1108710" y="0"/>
                  </a:cubicBezTo>
                  <a:lnTo>
                    <a:pt x="1108710" y="12700"/>
                  </a:lnTo>
                  <a:lnTo>
                    <a:pt x="1108710" y="0"/>
                  </a:lnTo>
                  <a:cubicBezTo>
                    <a:pt x="1720723" y="0"/>
                    <a:pt x="2217420" y="482092"/>
                    <a:pt x="2217420" y="1077468"/>
                  </a:cubicBezTo>
                  <a:lnTo>
                    <a:pt x="2204720" y="1077468"/>
                  </a:lnTo>
                  <a:lnTo>
                    <a:pt x="2217420" y="1077468"/>
                  </a:lnTo>
                  <a:cubicBezTo>
                    <a:pt x="2217420" y="1672844"/>
                    <a:pt x="1720723" y="2154936"/>
                    <a:pt x="1108710" y="2154936"/>
                  </a:cubicBezTo>
                  <a:lnTo>
                    <a:pt x="1108710" y="2142236"/>
                  </a:lnTo>
                  <a:lnTo>
                    <a:pt x="1108710" y="2154936"/>
                  </a:lnTo>
                  <a:cubicBezTo>
                    <a:pt x="496697" y="2155063"/>
                    <a:pt x="0" y="1672971"/>
                    <a:pt x="0" y="1077468"/>
                  </a:cubicBezTo>
                  <a:lnTo>
                    <a:pt x="12700" y="1077468"/>
                  </a:lnTo>
                  <a:lnTo>
                    <a:pt x="25400" y="1077468"/>
                  </a:lnTo>
                  <a:lnTo>
                    <a:pt x="12700" y="1077468"/>
                  </a:lnTo>
                  <a:lnTo>
                    <a:pt x="0" y="1077468"/>
                  </a:lnTo>
                  <a:moveTo>
                    <a:pt x="25400" y="1077468"/>
                  </a:moveTo>
                  <a:cubicBezTo>
                    <a:pt x="25400" y="1084453"/>
                    <a:pt x="19685" y="1090168"/>
                    <a:pt x="12700" y="1090168"/>
                  </a:cubicBezTo>
                  <a:cubicBezTo>
                    <a:pt x="5715" y="1090168"/>
                    <a:pt x="0" y="1084453"/>
                    <a:pt x="0" y="1077468"/>
                  </a:cubicBezTo>
                  <a:cubicBezTo>
                    <a:pt x="0" y="1070483"/>
                    <a:pt x="5715" y="1064768"/>
                    <a:pt x="12700" y="1064768"/>
                  </a:cubicBezTo>
                  <a:cubicBezTo>
                    <a:pt x="19685" y="1064768"/>
                    <a:pt x="25400" y="1070483"/>
                    <a:pt x="25400" y="1077468"/>
                  </a:cubicBezTo>
                  <a:cubicBezTo>
                    <a:pt x="25400" y="1658239"/>
                    <a:pt x="510032" y="2129536"/>
                    <a:pt x="1108710" y="2129536"/>
                  </a:cubicBezTo>
                  <a:cubicBezTo>
                    <a:pt x="1707388" y="2129536"/>
                    <a:pt x="2192020" y="1658112"/>
                    <a:pt x="2192020" y="1077468"/>
                  </a:cubicBezTo>
                  <a:cubicBezTo>
                    <a:pt x="2192020" y="496824"/>
                    <a:pt x="1707388" y="25400"/>
                    <a:pt x="1108710" y="25400"/>
                  </a:cubicBezTo>
                  <a:lnTo>
                    <a:pt x="1108710" y="12700"/>
                  </a:lnTo>
                  <a:lnTo>
                    <a:pt x="1108710" y="25400"/>
                  </a:lnTo>
                  <a:cubicBezTo>
                    <a:pt x="510032" y="25400"/>
                    <a:pt x="25400" y="496824"/>
                    <a:pt x="25400" y="1077468"/>
                  </a:cubicBezTo>
                  <a:close/>
                </a:path>
              </a:pathLst>
            </a:custGeom>
            <a:solidFill>
              <a:srgbClr val="595959"/>
            </a:solidFill>
          </p:spPr>
        </p:sp>
        <p:sp>
          <p:nvSpPr>
            <p:cNvPr id="6" name="TextBox 6"/>
            <p:cNvSpPr txBox="1"/>
            <p:nvPr/>
          </p:nvSpPr>
          <p:spPr>
            <a:xfrm>
              <a:off x="0" y="-38100"/>
              <a:ext cx="2217395" cy="2193100"/>
            </a:xfrm>
            <a:prstGeom prst="rect">
              <a:avLst/>
            </a:prstGeom>
          </p:spPr>
          <p:txBody>
            <a:bodyPr lIns="50800" tIns="50800" rIns="50800" bIns="50800" rtlCol="0" anchor="ctr"/>
            <a:lstStyle/>
            <a:p>
              <a:pPr algn="ctr">
                <a:lnSpc>
                  <a:spcPts val="6719"/>
                </a:lnSpc>
              </a:pPr>
              <a:r>
                <a:rPr lang="en-US" sz="5599" b="1">
                  <a:solidFill>
                    <a:srgbClr val="000000"/>
                  </a:solidFill>
                  <a:latin typeface="Times New Roman Bold"/>
                  <a:ea typeface="Times New Roman Bold"/>
                  <a:cs typeface="Times New Roman Bold"/>
                  <a:sym typeface="Times New Roman Bold"/>
                </a:rPr>
                <a:t>4</a:t>
              </a:r>
            </a:p>
          </p:txBody>
        </p:sp>
      </p:grpSp>
      <p:grpSp>
        <p:nvGrpSpPr>
          <p:cNvPr id="7" name="Group 7"/>
          <p:cNvGrpSpPr/>
          <p:nvPr/>
        </p:nvGrpSpPr>
        <p:grpSpPr>
          <a:xfrm>
            <a:off x="13038125" y="555031"/>
            <a:ext cx="1792672" cy="614162"/>
            <a:chOff x="0" y="0"/>
            <a:chExt cx="2390229" cy="818883"/>
          </a:xfrm>
        </p:grpSpPr>
        <p:sp>
          <p:nvSpPr>
            <p:cNvPr id="8" name="Freeform 8"/>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9" name="Group 9"/>
          <p:cNvGrpSpPr/>
          <p:nvPr/>
        </p:nvGrpSpPr>
        <p:grpSpPr>
          <a:xfrm>
            <a:off x="2086813" y="555050"/>
            <a:ext cx="1856937" cy="614153"/>
            <a:chOff x="0" y="0"/>
            <a:chExt cx="2475916" cy="818871"/>
          </a:xfrm>
        </p:grpSpPr>
        <p:sp>
          <p:nvSpPr>
            <p:cNvPr id="10" name="Freeform 10"/>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sp>
        <p:nvSpPr>
          <p:cNvPr id="11" name="Freeform 11"/>
          <p:cNvSpPr/>
          <p:nvPr/>
        </p:nvSpPr>
        <p:spPr>
          <a:xfrm>
            <a:off x="11266811" y="2059170"/>
            <a:ext cx="4744181" cy="6522969"/>
          </a:xfrm>
          <a:custGeom>
            <a:avLst/>
            <a:gdLst/>
            <a:ahLst/>
            <a:cxnLst/>
            <a:rect l="l" t="t" r="r" b="b"/>
            <a:pathLst>
              <a:path w="4744181" h="6522969">
                <a:moveTo>
                  <a:pt x="0" y="0"/>
                </a:moveTo>
                <a:lnTo>
                  <a:pt x="4744181" y="0"/>
                </a:lnTo>
                <a:lnTo>
                  <a:pt x="4744181" y="6522969"/>
                </a:lnTo>
                <a:lnTo>
                  <a:pt x="0" y="6522969"/>
                </a:lnTo>
                <a:lnTo>
                  <a:pt x="0" y="0"/>
                </a:lnTo>
                <a:close/>
              </a:path>
            </a:pathLst>
          </a:custGeom>
          <a:blipFill>
            <a:blip r:embed="rId6"/>
            <a:stretch>
              <a:fillRect l="-7858" t="-5273" r="-7978"/>
            </a:stretch>
          </a:blipFill>
        </p:spPr>
      </p:sp>
      <p:sp>
        <p:nvSpPr>
          <p:cNvPr id="12" name="TextBox 12"/>
          <p:cNvSpPr txBox="1"/>
          <p:nvPr/>
        </p:nvSpPr>
        <p:spPr>
          <a:xfrm>
            <a:off x="1153020" y="1763297"/>
            <a:ext cx="7543952" cy="1442923"/>
          </a:xfrm>
          <a:prstGeom prst="rect">
            <a:avLst/>
          </a:prstGeom>
        </p:spPr>
        <p:txBody>
          <a:bodyPr lIns="0" tIns="0" rIns="0" bIns="0" rtlCol="0" anchor="t">
            <a:spAutoFit/>
          </a:bodyPr>
          <a:lstStyle/>
          <a:p>
            <a:pPr algn="l">
              <a:lnSpc>
                <a:spcPts val="6480"/>
              </a:lnSpc>
            </a:pPr>
            <a:r>
              <a:rPr lang="en-US" sz="5400" u="sng">
                <a:solidFill>
                  <a:srgbClr val="FFFFFF"/>
                </a:solidFill>
                <a:latin typeface="Times New Roman"/>
                <a:ea typeface="Times New Roman"/>
                <a:cs typeface="Times New Roman"/>
                <a:sym typeface="Times New Roman"/>
              </a:rPr>
              <a:t>Tech Stack &amp; Architecture</a:t>
            </a:r>
          </a:p>
        </p:txBody>
      </p:sp>
      <p:sp>
        <p:nvSpPr>
          <p:cNvPr id="13" name="TextBox 13"/>
          <p:cNvSpPr txBox="1"/>
          <p:nvPr/>
        </p:nvSpPr>
        <p:spPr>
          <a:xfrm>
            <a:off x="1153020" y="2859526"/>
            <a:ext cx="9438780" cy="5469382"/>
          </a:xfrm>
          <a:prstGeom prst="rect">
            <a:avLst/>
          </a:prstGeom>
        </p:spPr>
        <p:txBody>
          <a:bodyPr wrap="square" lIns="0" tIns="0" rIns="0" bIns="0" rtlCol="0" anchor="t">
            <a:spAutoFit/>
          </a:bodyPr>
          <a:lstStyle/>
          <a:p>
            <a:pPr algn="l">
              <a:lnSpc>
                <a:spcPts val="3927"/>
              </a:lnSpc>
            </a:pPr>
            <a:r>
              <a:rPr lang="en-US" sz="2805" u="sng" dirty="0">
                <a:solidFill>
                  <a:srgbClr val="FFFFFF"/>
                </a:solidFill>
                <a:latin typeface="Canva Sans"/>
                <a:ea typeface="Canva Sans"/>
                <a:cs typeface="Canva Sans"/>
                <a:sym typeface="Canva Sans"/>
              </a:rPr>
              <a:t>Component</a:t>
            </a:r>
            <a:r>
              <a:rPr lang="en-US" sz="2805" dirty="0">
                <a:solidFill>
                  <a:srgbClr val="FFFFFF"/>
                </a:solidFill>
                <a:latin typeface="Canva Sans"/>
                <a:ea typeface="Canva Sans"/>
                <a:cs typeface="Canva Sans"/>
                <a:sym typeface="Canva Sans"/>
              </a:rPr>
              <a:t>                     </a:t>
            </a:r>
            <a:r>
              <a:rPr lang="en-US" sz="2805" u="sng" dirty="0">
                <a:solidFill>
                  <a:srgbClr val="FFFFFF"/>
                </a:solidFill>
                <a:latin typeface="Canva Sans"/>
                <a:ea typeface="Canva Sans"/>
                <a:cs typeface="Canva Sans"/>
                <a:sym typeface="Canva Sans"/>
              </a:rPr>
              <a:t>Technology</a:t>
            </a:r>
          </a:p>
          <a:p>
            <a:pPr algn="l">
              <a:lnSpc>
                <a:spcPts val="3927"/>
              </a:lnSpc>
              <a:spcBef>
                <a:spcPct val="0"/>
              </a:spcBef>
            </a:pPr>
            <a:r>
              <a:rPr lang="en-US" sz="2805" dirty="0">
                <a:solidFill>
                  <a:srgbClr val="FFFFFF"/>
                </a:solidFill>
                <a:latin typeface="Canva Sans"/>
                <a:ea typeface="Canva Sans"/>
                <a:cs typeface="Canva Sans"/>
                <a:sym typeface="Canva Sans"/>
              </a:rPr>
              <a:t>Frontend                              React.js + Tailwind CSS</a:t>
            </a:r>
          </a:p>
          <a:p>
            <a:pPr algn="l">
              <a:lnSpc>
                <a:spcPts val="3927"/>
              </a:lnSpc>
              <a:spcBef>
                <a:spcPct val="0"/>
              </a:spcBef>
            </a:pPr>
            <a:r>
              <a:rPr lang="en-US" sz="2805" dirty="0">
                <a:solidFill>
                  <a:srgbClr val="FFFFFF"/>
                </a:solidFill>
                <a:latin typeface="Canva Sans"/>
                <a:ea typeface="Canva Sans"/>
                <a:cs typeface="Canva Sans"/>
                <a:sym typeface="Canva Sans"/>
              </a:rPr>
              <a:t>Backend API                        Django REST Framework</a:t>
            </a:r>
          </a:p>
          <a:p>
            <a:pPr algn="l">
              <a:lnSpc>
                <a:spcPts val="3927"/>
              </a:lnSpc>
              <a:spcBef>
                <a:spcPct val="0"/>
              </a:spcBef>
            </a:pPr>
            <a:r>
              <a:rPr lang="en-US" sz="2805" dirty="0">
                <a:solidFill>
                  <a:srgbClr val="FFFFFF"/>
                </a:solidFill>
                <a:latin typeface="Canva Sans"/>
                <a:ea typeface="Canva Sans"/>
                <a:cs typeface="Canva Sans"/>
                <a:sym typeface="Canva Sans"/>
              </a:rPr>
              <a:t>AI Processing                      Python</a:t>
            </a:r>
          </a:p>
          <a:p>
            <a:pPr algn="l">
              <a:lnSpc>
                <a:spcPts val="3927"/>
              </a:lnSpc>
              <a:spcBef>
                <a:spcPct val="0"/>
              </a:spcBef>
            </a:pPr>
            <a:r>
              <a:rPr lang="en-US" sz="2805" dirty="0">
                <a:solidFill>
                  <a:srgbClr val="FFFFFF"/>
                </a:solidFill>
                <a:latin typeface="Canva Sans"/>
                <a:ea typeface="Canva Sans"/>
                <a:cs typeface="Canva Sans"/>
                <a:sym typeface="Canva Sans"/>
              </a:rPr>
              <a:t>Dataset Processing           Pandas</a:t>
            </a:r>
          </a:p>
          <a:p>
            <a:pPr algn="l">
              <a:lnSpc>
                <a:spcPts val="3927"/>
              </a:lnSpc>
              <a:spcBef>
                <a:spcPct val="0"/>
              </a:spcBef>
            </a:pPr>
            <a:r>
              <a:rPr lang="en-US" sz="2805" dirty="0">
                <a:solidFill>
                  <a:srgbClr val="FFFFFF"/>
                </a:solidFill>
                <a:latin typeface="Canva Sans"/>
                <a:ea typeface="Canva Sans"/>
                <a:cs typeface="Canva Sans"/>
                <a:sym typeface="Canva Sans"/>
              </a:rPr>
              <a:t>Relational Database         PostgreSQL</a:t>
            </a:r>
          </a:p>
          <a:p>
            <a:pPr algn="l">
              <a:lnSpc>
                <a:spcPts val="3927"/>
              </a:lnSpc>
              <a:spcBef>
                <a:spcPct val="0"/>
              </a:spcBef>
            </a:pPr>
            <a:r>
              <a:rPr lang="en-US" sz="2805" dirty="0">
                <a:solidFill>
                  <a:srgbClr val="FFFFFF"/>
                </a:solidFill>
                <a:latin typeface="Canva Sans"/>
                <a:ea typeface="Canva Sans"/>
                <a:cs typeface="Canva Sans"/>
                <a:sym typeface="Canva Sans"/>
              </a:rPr>
              <a:t>Graph Database                 Neo4j</a:t>
            </a:r>
          </a:p>
          <a:p>
            <a:pPr algn="l">
              <a:lnSpc>
                <a:spcPts val="3927"/>
              </a:lnSpc>
              <a:spcBef>
                <a:spcPct val="0"/>
              </a:spcBef>
            </a:pPr>
            <a:r>
              <a:rPr lang="en-US" sz="2805" dirty="0">
                <a:solidFill>
                  <a:srgbClr val="FFFFFF"/>
                </a:solidFill>
                <a:latin typeface="Canva Sans"/>
                <a:ea typeface="Canva Sans"/>
                <a:cs typeface="Canva Sans"/>
                <a:sym typeface="Canva Sans"/>
              </a:rPr>
              <a:t>NLP Engine                          Transformers / LLM</a:t>
            </a:r>
          </a:p>
          <a:p>
            <a:pPr algn="l">
              <a:lnSpc>
                <a:spcPts val="3927"/>
              </a:lnSpc>
              <a:spcBef>
                <a:spcPct val="0"/>
              </a:spcBef>
            </a:pPr>
            <a:r>
              <a:rPr lang="en-US" sz="2805" dirty="0">
                <a:solidFill>
                  <a:srgbClr val="FFFFFF"/>
                </a:solidFill>
                <a:latin typeface="Canva Sans"/>
                <a:ea typeface="Canva Sans"/>
                <a:cs typeface="Canva Sans"/>
                <a:sym typeface="Canva Sans"/>
              </a:rPr>
              <a:t>Visualization                       Chart.js / Recharts</a:t>
            </a:r>
          </a:p>
          <a:p>
            <a:pPr algn="l">
              <a:lnSpc>
                <a:spcPts val="3927"/>
              </a:lnSpc>
              <a:spcBef>
                <a:spcPct val="0"/>
              </a:spcBef>
            </a:pPr>
            <a:r>
              <a:rPr lang="en-US" sz="2805" dirty="0">
                <a:solidFill>
                  <a:srgbClr val="FFFFFF"/>
                </a:solidFill>
                <a:latin typeface="Canva Sans"/>
                <a:ea typeface="Canva Sans"/>
                <a:cs typeface="Canva Sans"/>
                <a:sym typeface="Canva Sans"/>
              </a:rPr>
              <a:t>Deployment                        Neon PostgreSQL + Render</a:t>
            </a:r>
          </a:p>
          <a:p>
            <a:pPr algn="l">
              <a:lnSpc>
                <a:spcPts val="3927"/>
              </a:lnSpc>
              <a:spcBef>
                <a:spcPct val="0"/>
              </a:spcBef>
            </a:pPr>
            <a:r>
              <a:rPr lang="en-US" sz="2805" dirty="0">
                <a:solidFill>
                  <a:srgbClr val="FFFFFF"/>
                </a:solidFill>
                <a:latin typeface="Canva Sans"/>
                <a:ea typeface="Canva Sans"/>
                <a:cs typeface="Canva Sans"/>
                <a:sym typeface="Canva Sans"/>
              </a:rPr>
              <a:t>Database Architecture    PostgreSQL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6388629" y="211274"/>
            <a:ext cx="1663046" cy="1616250"/>
            <a:chOff x="0" y="0"/>
            <a:chExt cx="2217395" cy="2155000"/>
          </a:xfrm>
        </p:grpSpPr>
        <p:sp>
          <p:nvSpPr>
            <p:cNvPr id="5" name="Freeform 5"/>
            <p:cNvSpPr/>
            <p:nvPr/>
          </p:nvSpPr>
          <p:spPr>
            <a:xfrm>
              <a:off x="12700" y="12700"/>
              <a:ext cx="2192020" cy="2129536"/>
            </a:xfrm>
            <a:custGeom>
              <a:avLst/>
              <a:gdLst/>
              <a:ahLst/>
              <a:cxnLst/>
              <a:rect l="l" t="t" r="r" b="b"/>
              <a:pathLst>
                <a:path w="2192020" h="2129536">
                  <a:moveTo>
                    <a:pt x="0" y="1064768"/>
                  </a:moveTo>
                  <a:cubicBezTo>
                    <a:pt x="0" y="476758"/>
                    <a:pt x="490728" y="0"/>
                    <a:pt x="1096010" y="0"/>
                  </a:cubicBezTo>
                  <a:cubicBezTo>
                    <a:pt x="1701292" y="0"/>
                    <a:pt x="2192020" y="476758"/>
                    <a:pt x="2192020" y="1064768"/>
                  </a:cubicBezTo>
                  <a:cubicBezTo>
                    <a:pt x="2192020" y="1652778"/>
                    <a:pt x="1701292" y="2129536"/>
                    <a:pt x="1096010" y="2129536"/>
                  </a:cubicBezTo>
                  <a:cubicBezTo>
                    <a:pt x="490728" y="2129536"/>
                    <a:pt x="0" y="1652905"/>
                    <a:pt x="0" y="1064768"/>
                  </a:cubicBezTo>
                  <a:close/>
                </a:path>
              </a:pathLst>
            </a:custGeom>
            <a:solidFill>
              <a:srgbClr val="EEEEEE"/>
            </a:solidFill>
          </p:spPr>
        </p:sp>
        <p:sp>
          <p:nvSpPr>
            <p:cNvPr id="6" name="Freeform 6"/>
            <p:cNvSpPr/>
            <p:nvPr/>
          </p:nvSpPr>
          <p:spPr>
            <a:xfrm>
              <a:off x="0" y="0"/>
              <a:ext cx="2217420" cy="2154936"/>
            </a:xfrm>
            <a:custGeom>
              <a:avLst/>
              <a:gdLst/>
              <a:ahLst/>
              <a:cxnLst/>
              <a:rect l="l" t="t" r="r" b="b"/>
              <a:pathLst>
                <a:path w="2217420" h="2154936">
                  <a:moveTo>
                    <a:pt x="0" y="1077468"/>
                  </a:moveTo>
                  <a:cubicBezTo>
                    <a:pt x="0" y="482092"/>
                    <a:pt x="496697" y="0"/>
                    <a:pt x="1108710" y="0"/>
                  </a:cubicBezTo>
                  <a:lnTo>
                    <a:pt x="1108710" y="12700"/>
                  </a:lnTo>
                  <a:lnTo>
                    <a:pt x="1108710" y="0"/>
                  </a:lnTo>
                  <a:cubicBezTo>
                    <a:pt x="1720723" y="0"/>
                    <a:pt x="2217420" y="482092"/>
                    <a:pt x="2217420" y="1077468"/>
                  </a:cubicBezTo>
                  <a:lnTo>
                    <a:pt x="2204720" y="1077468"/>
                  </a:lnTo>
                  <a:lnTo>
                    <a:pt x="2217420" y="1077468"/>
                  </a:lnTo>
                  <a:cubicBezTo>
                    <a:pt x="2217420" y="1672844"/>
                    <a:pt x="1720723" y="2154936"/>
                    <a:pt x="1108710" y="2154936"/>
                  </a:cubicBezTo>
                  <a:lnTo>
                    <a:pt x="1108710" y="2142236"/>
                  </a:lnTo>
                  <a:lnTo>
                    <a:pt x="1108710" y="2154936"/>
                  </a:lnTo>
                  <a:cubicBezTo>
                    <a:pt x="496697" y="2155063"/>
                    <a:pt x="0" y="1672971"/>
                    <a:pt x="0" y="1077468"/>
                  </a:cubicBezTo>
                  <a:lnTo>
                    <a:pt x="12700" y="1077468"/>
                  </a:lnTo>
                  <a:lnTo>
                    <a:pt x="25400" y="1077468"/>
                  </a:lnTo>
                  <a:lnTo>
                    <a:pt x="12700" y="1077468"/>
                  </a:lnTo>
                  <a:lnTo>
                    <a:pt x="0" y="1077468"/>
                  </a:lnTo>
                  <a:moveTo>
                    <a:pt x="25400" y="1077468"/>
                  </a:moveTo>
                  <a:cubicBezTo>
                    <a:pt x="25400" y="1084453"/>
                    <a:pt x="19685" y="1090168"/>
                    <a:pt x="12700" y="1090168"/>
                  </a:cubicBezTo>
                  <a:cubicBezTo>
                    <a:pt x="5715" y="1090168"/>
                    <a:pt x="0" y="1084453"/>
                    <a:pt x="0" y="1077468"/>
                  </a:cubicBezTo>
                  <a:cubicBezTo>
                    <a:pt x="0" y="1070483"/>
                    <a:pt x="5715" y="1064768"/>
                    <a:pt x="12700" y="1064768"/>
                  </a:cubicBezTo>
                  <a:cubicBezTo>
                    <a:pt x="19685" y="1064768"/>
                    <a:pt x="25400" y="1070483"/>
                    <a:pt x="25400" y="1077468"/>
                  </a:cubicBezTo>
                  <a:cubicBezTo>
                    <a:pt x="25400" y="1658239"/>
                    <a:pt x="510032" y="2129536"/>
                    <a:pt x="1108710" y="2129536"/>
                  </a:cubicBezTo>
                  <a:cubicBezTo>
                    <a:pt x="1707388" y="2129536"/>
                    <a:pt x="2192020" y="1658112"/>
                    <a:pt x="2192020" y="1077468"/>
                  </a:cubicBezTo>
                  <a:cubicBezTo>
                    <a:pt x="2192020" y="496824"/>
                    <a:pt x="1707388" y="25400"/>
                    <a:pt x="1108710" y="25400"/>
                  </a:cubicBezTo>
                  <a:lnTo>
                    <a:pt x="1108710" y="12700"/>
                  </a:lnTo>
                  <a:lnTo>
                    <a:pt x="1108710" y="25400"/>
                  </a:lnTo>
                  <a:cubicBezTo>
                    <a:pt x="510032" y="25400"/>
                    <a:pt x="25400" y="496824"/>
                    <a:pt x="25400" y="1077468"/>
                  </a:cubicBezTo>
                  <a:close/>
                </a:path>
              </a:pathLst>
            </a:custGeom>
            <a:solidFill>
              <a:srgbClr val="595959"/>
            </a:solidFill>
          </p:spPr>
        </p:sp>
        <p:sp>
          <p:nvSpPr>
            <p:cNvPr id="7" name="TextBox 7"/>
            <p:cNvSpPr txBox="1"/>
            <p:nvPr/>
          </p:nvSpPr>
          <p:spPr>
            <a:xfrm>
              <a:off x="0" y="-38100"/>
              <a:ext cx="2217395" cy="2193100"/>
            </a:xfrm>
            <a:prstGeom prst="rect">
              <a:avLst/>
            </a:prstGeom>
          </p:spPr>
          <p:txBody>
            <a:bodyPr lIns="50800" tIns="50800" rIns="50800" bIns="50800" rtlCol="0" anchor="ctr"/>
            <a:lstStyle/>
            <a:p>
              <a:pPr algn="ctr">
                <a:lnSpc>
                  <a:spcPts val="6719"/>
                </a:lnSpc>
              </a:pPr>
              <a:r>
                <a:rPr lang="en-US" sz="5599" b="1">
                  <a:solidFill>
                    <a:srgbClr val="000000"/>
                  </a:solidFill>
                  <a:latin typeface="Times New Roman Bold"/>
                  <a:ea typeface="Times New Roman Bold"/>
                  <a:cs typeface="Times New Roman Bold"/>
                  <a:sym typeface="Times New Roman Bold"/>
                </a:rPr>
                <a:t>5</a:t>
              </a:r>
            </a:p>
          </p:txBody>
        </p:sp>
      </p:grpSp>
      <p:grpSp>
        <p:nvGrpSpPr>
          <p:cNvPr id="8" name="Group 8"/>
          <p:cNvGrpSpPr/>
          <p:nvPr/>
        </p:nvGrpSpPr>
        <p:grpSpPr>
          <a:xfrm>
            <a:off x="13038125" y="555031"/>
            <a:ext cx="1792672" cy="614162"/>
            <a:chOff x="0" y="0"/>
            <a:chExt cx="2390229" cy="818883"/>
          </a:xfrm>
        </p:grpSpPr>
        <p:sp>
          <p:nvSpPr>
            <p:cNvPr id="9" name="Freeform 9"/>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10" name="Group 10"/>
          <p:cNvGrpSpPr/>
          <p:nvPr/>
        </p:nvGrpSpPr>
        <p:grpSpPr>
          <a:xfrm>
            <a:off x="2086813" y="555050"/>
            <a:ext cx="1856937" cy="614153"/>
            <a:chOff x="0" y="0"/>
            <a:chExt cx="2475916" cy="818871"/>
          </a:xfrm>
        </p:grpSpPr>
        <p:sp>
          <p:nvSpPr>
            <p:cNvPr id="11" name="Freeform 11"/>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sp>
        <p:nvSpPr>
          <p:cNvPr id="12" name="TextBox 12"/>
          <p:cNvSpPr txBox="1"/>
          <p:nvPr/>
        </p:nvSpPr>
        <p:spPr>
          <a:xfrm>
            <a:off x="1153020" y="1763297"/>
            <a:ext cx="7543952" cy="1442923"/>
          </a:xfrm>
          <a:prstGeom prst="rect">
            <a:avLst/>
          </a:prstGeom>
        </p:spPr>
        <p:txBody>
          <a:bodyPr lIns="0" tIns="0" rIns="0" bIns="0" rtlCol="0" anchor="t">
            <a:spAutoFit/>
          </a:bodyPr>
          <a:lstStyle/>
          <a:p>
            <a:pPr algn="l">
              <a:lnSpc>
                <a:spcPts val="6480"/>
              </a:lnSpc>
            </a:pPr>
            <a:r>
              <a:rPr lang="en-US" sz="5400" u="sng">
                <a:solidFill>
                  <a:srgbClr val="FFFFFF"/>
                </a:solidFill>
                <a:latin typeface="Times New Roman"/>
                <a:ea typeface="Times New Roman"/>
                <a:cs typeface="Times New Roman"/>
                <a:sym typeface="Times New Roman"/>
              </a:rPr>
              <a:t>Data Flow Diagram</a:t>
            </a:r>
          </a:p>
        </p:txBody>
      </p:sp>
      <p:grpSp>
        <p:nvGrpSpPr>
          <p:cNvPr id="13" name="Group 13"/>
          <p:cNvGrpSpPr/>
          <p:nvPr/>
        </p:nvGrpSpPr>
        <p:grpSpPr>
          <a:xfrm>
            <a:off x="123488" y="2086034"/>
            <a:ext cx="18048125" cy="7684737"/>
            <a:chOff x="0" y="0"/>
            <a:chExt cx="24064167" cy="10246316"/>
          </a:xfrm>
        </p:grpSpPr>
        <p:grpSp>
          <p:nvGrpSpPr>
            <p:cNvPr id="14" name="Group 14"/>
            <p:cNvGrpSpPr/>
            <p:nvPr/>
          </p:nvGrpSpPr>
          <p:grpSpPr>
            <a:xfrm>
              <a:off x="1686089" y="1086381"/>
              <a:ext cx="5782462" cy="1481624"/>
              <a:chOff x="0" y="0"/>
              <a:chExt cx="1586092" cy="406400"/>
            </a:xfrm>
          </p:grpSpPr>
          <p:sp>
            <p:nvSpPr>
              <p:cNvPr id="15" name="Freeform 15"/>
              <p:cNvSpPr/>
              <p:nvPr/>
            </p:nvSpPr>
            <p:spPr>
              <a:xfrm>
                <a:off x="0" y="0"/>
                <a:ext cx="1586092" cy="406400"/>
              </a:xfrm>
              <a:custGeom>
                <a:avLst/>
                <a:gdLst/>
                <a:ahLst/>
                <a:cxnLst/>
                <a:rect l="l" t="t" r="r" b="b"/>
                <a:pathLst>
                  <a:path w="1586092" h="406400">
                    <a:moveTo>
                      <a:pt x="1382892" y="0"/>
                    </a:moveTo>
                    <a:cubicBezTo>
                      <a:pt x="1495117" y="0"/>
                      <a:pt x="1586092" y="90976"/>
                      <a:pt x="1586092" y="203200"/>
                    </a:cubicBezTo>
                    <a:cubicBezTo>
                      <a:pt x="1586092" y="315424"/>
                      <a:pt x="1495117" y="406400"/>
                      <a:pt x="1382892" y="406400"/>
                    </a:cubicBezTo>
                    <a:lnTo>
                      <a:pt x="203200" y="406400"/>
                    </a:lnTo>
                    <a:cubicBezTo>
                      <a:pt x="90976" y="406400"/>
                      <a:pt x="0" y="315424"/>
                      <a:pt x="0" y="203200"/>
                    </a:cubicBezTo>
                    <a:cubicBezTo>
                      <a:pt x="0" y="90976"/>
                      <a:pt x="90976" y="0"/>
                      <a:pt x="203200" y="0"/>
                    </a:cubicBezTo>
                    <a:close/>
                  </a:path>
                </a:pathLst>
              </a:custGeom>
              <a:solidFill>
                <a:srgbClr val="0E0E70"/>
              </a:solidFill>
              <a:ln w="57150" cap="sq">
                <a:solidFill>
                  <a:srgbClr val="000000"/>
                </a:solidFill>
                <a:prstDash val="solid"/>
                <a:miter/>
              </a:ln>
            </p:spPr>
          </p:sp>
          <p:sp>
            <p:nvSpPr>
              <p:cNvPr id="16" name="TextBox 16"/>
              <p:cNvSpPr txBox="1"/>
              <p:nvPr/>
            </p:nvSpPr>
            <p:spPr>
              <a:xfrm>
                <a:off x="0" y="-38100"/>
                <a:ext cx="1586092" cy="444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0498122" y="0"/>
              <a:ext cx="6421682" cy="1481624"/>
              <a:chOff x="0" y="0"/>
              <a:chExt cx="1761426" cy="406400"/>
            </a:xfrm>
          </p:grpSpPr>
          <p:sp>
            <p:nvSpPr>
              <p:cNvPr id="18" name="Freeform 18"/>
              <p:cNvSpPr/>
              <p:nvPr/>
            </p:nvSpPr>
            <p:spPr>
              <a:xfrm>
                <a:off x="0" y="0"/>
                <a:ext cx="1761426" cy="406400"/>
              </a:xfrm>
              <a:custGeom>
                <a:avLst/>
                <a:gdLst/>
                <a:ahLst/>
                <a:cxnLst/>
                <a:rect l="l" t="t" r="r" b="b"/>
                <a:pathLst>
                  <a:path w="1761426" h="406400">
                    <a:moveTo>
                      <a:pt x="1558226" y="0"/>
                    </a:moveTo>
                    <a:cubicBezTo>
                      <a:pt x="1670451" y="0"/>
                      <a:pt x="1761426" y="90976"/>
                      <a:pt x="1761426" y="203200"/>
                    </a:cubicBezTo>
                    <a:cubicBezTo>
                      <a:pt x="1761426" y="315424"/>
                      <a:pt x="1670451" y="406400"/>
                      <a:pt x="1558226" y="406400"/>
                    </a:cubicBezTo>
                    <a:lnTo>
                      <a:pt x="203200" y="406400"/>
                    </a:lnTo>
                    <a:cubicBezTo>
                      <a:pt x="90976" y="406400"/>
                      <a:pt x="0" y="315424"/>
                      <a:pt x="0" y="203200"/>
                    </a:cubicBezTo>
                    <a:cubicBezTo>
                      <a:pt x="0" y="90976"/>
                      <a:pt x="90976" y="0"/>
                      <a:pt x="203200" y="0"/>
                    </a:cubicBezTo>
                    <a:close/>
                  </a:path>
                </a:pathLst>
              </a:custGeom>
              <a:solidFill>
                <a:srgbClr val="0E0E70"/>
              </a:solidFill>
              <a:ln w="57150" cap="sq">
                <a:solidFill>
                  <a:srgbClr val="000000"/>
                </a:solidFill>
                <a:prstDash val="solid"/>
                <a:miter/>
              </a:ln>
            </p:spPr>
          </p:sp>
          <p:sp>
            <p:nvSpPr>
              <p:cNvPr id="19" name="TextBox 19"/>
              <p:cNvSpPr txBox="1"/>
              <p:nvPr/>
            </p:nvSpPr>
            <p:spPr>
              <a:xfrm>
                <a:off x="0" y="-47625"/>
                <a:ext cx="1761426" cy="454025"/>
              </a:xfrm>
              <a:prstGeom prst="rect">
                <a:avLst/>
              </a:prstGeom>
            </p:spPr>
            <p:txBody>
              <a:bodyPr lIns="50800" tIns="50800" rIns="50800" bIns="50800" rtlCol="0" anchor="ctr"/>
              <a:lstStyle/>
              <a:p>
                <a:pPr marL="0" lvl="0" indent="0" algn="ctr">
                  <a:lnSpc>
                    <a:spcPts val="3263"/>
                  </a:lnSpc>
                  <a:spcBef>
                    <a:spcPct val="0"/>
                  </a:spcBef>
                </a:pPr>
                <a:r>
                  <a:rPr lang="en-US" sz="2330">
                    <a:solidFill>
                      <a:srgbClr val="FFFFFF"/>
                    </a:solidFill>
                    <a:latin typeface="Chewy"/>
                    <a:ea typeface="Chewy"/>
                    <a:cs typeface="Chewy"/>
                    <a:sym typeface="Chewy"/>
                  </a:rPr>
                  <a:t>Pandas reads file</a:t>
                </a:r>
              </a:p>
            </p:txBody>
          </p:sp>
        </p:grpSp>
        <p:sp>
          <p:nvSpPr>
            <p:cNvPr id="20" name="Freeform 20"/>
            <p:cNvSpPr/>
            <p:nvPr/>
          </p:nvSpPr>
          <p:spPr>
            <a:xfrm>
              <a:off x="4577320" y="740812"/>
              <a:ext cx="5920802" cy="2266192"/>
            </a:xfrm>
            <a:custGeom>
              <a:avLst/>
              <a:gdLst/>
              <a:ahLst/>
              <a:cxnLst/>
              <a:rect l="l" t="t" r="r" b="b"/>
              <a:pathLst>
                <a:path w="5920802" h="2266192">
                  <a:moveTo>
                    <a:pt x="0" y="1827192"/>
                  </a:moveTo>
                  <a:lnTo>
                    <a:pt x="0" y="2046692"/>
                  </a:lnTo>
                  <a:cubicBezTo>
                    <a:pt x="0" y="2104907"/>
                    <a:pt x="23126" y="2160738"/>
                    <a:pt x="64290" y="2201902"/>
                  </a:cubicBezTo>
                  <a:cubicBezTo>
                    <a:pt x="105455" y="2243067"/>
                    <a:pt x="161285" y="2266192"/>
                    <a:pt x="219500" y="2266192"/>
                  </a:cubicBezTo>
                  <a:lnTo>
                    <a:pt x="4322310" y="2266192"/>
                  </a:lnTo>
                  <a:cubicBezTo>
                    <a:pt x="4380525" y="2266192"/>
                    <a:pt x="4436355" y="2243067"/>
                    <a:pt x="4477520" y="2201902"/>
                  </a:cubicBezTo>
                  <a:cubicBezTo>
                    <a:pt x="4518684" y="2160738"/>
                    <a:pt x="4541809" y="2104907"/>
                    <a:pt x="4541809" y="2046692"/>
                  </a:cubicBezTo>
                  <a:lnTo>
                    <a:pt x="4541809" y="219500"/>
                  </a:lnTo>
                  <a:cubicBezTo>
                    <a:pt x="4541809" y="161285"/>
                    <a:pt x="4564935" y="105454"/>
                    <a:pt x="4606099" y="64290"/>
                  </a:cubicBezTo>
                  <a:cubicBezTo>
                    <a:pt x="4647263" y="23126"/>
                    <a:pt x="4703094" y="0"/>
                    <a:pt x="4761309" y="0"/>
                  </a:cubicBezTo>
                  <a:lnTo>
                    <a:pt x="5920802" y="0"/>
                  </a:lnTo>
                </a:path>
              </a:pathLst>
            </a:custGeom>
            <a:ln w="100604" cap="rnd">
              <a:solidFill>
                <a:srgbClr val="ACB8C0"/>
              </a:solidFill>
              <a:prstDash val="solid"/>
              <a:headEnd type="none" w="sm" len="sm"/>
              <a:tailEnd type="arrow" w="med" len="sm"/>
            </a:ln>
          </p:spPr>
        </p:sp>
        <p:grpSp>
          <p:nvGrpSpPr>
            <p:cNvPr id="21" name="Group 21"/>
            <p:cNvGrpSpPr/>
            <p:nvPr/>
          </p:nvGrpSpPr>
          <p:grpSpPr>
            <a:xfrm>
              <a:off x="14458340" y="2087795"/>
              <a:ext cx="4922927" cy="1573294"/>
              <a:chOff x="0" y="0"/>
              <a:chExt cx="1271649" cy="406400"/>
            </a:xfrm>
          </p:grpSpPr>
          <p:sp>
            <p:nvSpPr>
              <p:cNvPr id="22" name="Freeform 22"/>
              <p:cNvSpPr/>
              <p:nvPr/>
            </p:nvSpPr>
            <p:spPr>
              <a:xfrm>
                <a:off x="0" y="0"/>
                <a:ext cx="1271649" cy="406400"/>
              </a:xfrm>
              <a:custGeom>
                <a:avLst/>
                <a:gdLst/>
                <a:ahLst/>
                <a:cxnLst/>
                <a:rect l="l" t="t" r="r" b="b"/>
                <a:pathLst>
                  <a:path w="1271649" h="406400">
                    <a:moveTo>
                      <a:pt x="1068449" y="0"/>
                    </a:moveTo>
                    <a:cubicBezTo>
                      <a:pt x="1180673" y="0"/>
                      <a:pt x="1271649" y="90976"/>
                      <a:pt x="1271649" y="203200"/>
                    </a:cubicBezTo>
                    <a:cubicBezTo>
                      <a:pt x="1271649" y="315424"/>
                      <a:pt x="1180673" y="406400"/>
                      <a:pt x="1068449" y="406400"/>
                    </a:cubicBezTo>
                    <a:lnTo>
                      <a:pt x="203200" y="406400"/>
                    </a:lnTo>
                    <a:cubicBezTo>
                      <a:pt x="90976" y="406400"/>
                      <a:pt x="0" y="315424"/>
                      <a:pt x="0" y="203200"/>
                    </a:cubicBezTo>
                    <a:cubicBezTo>
                      <a:pt x="0" y="90976"/>
                      <a:pt x="90976" y="0"/>
                      <a:pt x="203200" y="0"/>
                    </a:cubicBezTo>
                    <a:close/>
                  </a:path>
                </a:pathLst>
              </a:custGeom>
              <a:solidFill>
                <a:srgbClr val="0E0E70"/>
              </a:solidFill>
              <a:ln w="57150" cap="sq">
                <a:solidFill>
                  <a:srgbClr val="000000"/>
                </a:solidFill>
                <a:prstDash val="solid"/>
                <a:miter/>
              </a:ln>
            </p:spPr>
          </p:sp>
          <p:sp>
            <p:nvSpPr>
              <p:cNvPr id="23" name="TextBox 23"/>
              <p:cNvSpPr txBox="1"/>
              <p:nvPr/>
            </p:nvSpPr>
            <p:spPr>
              <a:xfrm>
                <a:off x="0" y="-38100"/>
                <a:ext cx="1271649" cy="444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Freeform 24"/>
            <p:cNvSpPr/>
            <p:nvPr/>
          </p:nvSpPr>
          <p:spPr>
            <a:xfrm>
              <a:off x="16919804" y="740812"/>
              <a:ext cx="6864465" cy="2133630"/>
            </a:xfrm>
            <a:custGeom>
              <a:avLst/>
              <a:gdLst/>
              <a:ahLst/>
              <a:cxnLst/>
              <a:rect l="l" t="t" r="r" b="b"/>
              <a:pathLst>
                <a:path w="6864465" h="2133630">
                  <a:moveTo>
                    <a:pt x="0" y="0"/>
                  </a:moveTo>
                  <a:lnTo>
                    <a:pt x="6644965" y="0"/>
                  </a:lnTo>
                  <a:cubicBezTo>
                    <a:pt x="6703180" y="0"/>
                    <a:pt x="6759011" y="23126"/>
                    <a:pt x="6800175" y="64290"/>
                  </a:cubicBezTo>
                  <a:cubicBezTo>
                    <a:pt x="6841339" y="105454"/>
                    <a:pt x="6864465" y="161285"/>
                    <a:pt x="6864465" y="219500"/>
                  </a:cubicBezTo>
                  <a:lnTo>
                    <a:pt x="6864465" y="873400"/>
                  </a:lnTo>
                  <a:cubicBezTo>
                    <a:pt x="6864465" y="931615"/>
                    <a:pt x="6841339" y="987445"/>
                    <a:pt x="6800175" y="1028609"/>
                  </a:cubicBezTo>
                  <a:cubicBezTo>
                    <a:pt x="6759011" y="1069774"/>
                    <a:pt x="6703180" y="1092900"/>
                    <a:pt x="6644965" y="1092900"/>
                  </a:cubicBezTo>
                  <a:lnTo>
                    <a:pt x="5014270" y="1092900"/>
                  </a:lnTo>
                  <a:cubicBezTo>
                    <a:pt x="4956055" y="1092900"/>
                    <a:pt x="4900224" y="1116025"/>
                    <a:pt x="4859060" y="1157190"/>
                  </a:cubicBezTo>
                  <a:cubicBezTo>
                    <a:pt x="4817896" y="1198354"/>
                    <a:pt x="4794770" y="1254184"/>
                    <a:pt x="4794770" y="1312399"/>
                  </a:cubicBezTo>
                  <a:lnTo>
                    <a:pt x="4794770" y="1914131"/>
                  </a:lnTo>
                  <a:cubicBezTo>
                    <a:pt x="4794770" y="1972345"/>
                    <a:pt x="4771644" y="2028176"/>
                    <a:pt x="4730479" y="2069340"/>
                  </a:cubicBezTo>
                  <a:cubicBezTo>
                    <a:pt x="4689316" y="2110505"/>
                    <a:pt x="4633485" y="2133630"/>
                    <a:pt x="4575270" y="2133630"/>
                  </a:cubicBezTo>
                  <a:lnTo>
                    <a:pt x="2461464" y="2133630"/>
                  </a:lnTo>
                </a:path>
              </a:pathLst>
            </a:custGeom>
            <a:ln w="100604" cap="rnd">
              <a:solidFill>
                <a:srgbClr val="ACB8C0"/>
              </a:solidFill>
              <a:prstDash val="solid"/>
              <a:headEnd type="none" w="sm" len="sm"/>
              <a:tailEnd type="arrow" w="med" len="sm"/>
            </a:ln>
          </p:spPr>
        </p:sp>
        <p:grpSp>
          <p:nvGrpSpPr>
            <p:cNvPr id="25" name="Group 25"/>
            <p:cNvGrpSpPr/>
            <p:nvPr/>
          </p:nvGrpSpPr>
          <p:grpSpPr>
            <a:xfrm>
              <a:off x="0" y="5886168"/>
              <a:ext cx="6207209" cy="1534468"/>
              <a:chOff x="0" y="0"/>
              <a:chExt cx="1643964" cy="406400"/>
            </a:xfrm>
          </p:grpSpPr>
          <p:sp>
            <p:nvSpPr>
              <p:cNvPr id="26" name="Freeform 26"/>
              <p:cNvSpPr/>
              <p:nvPr/>
            </p:nvSpPr>
            <p:spPr>
              <a:xfrm>
                <a:off x="0" y="0"/>
                <a:ext cx="1643964" cy="406400"/>
              </a:xfrm>
              <a:custGeom>
                <a:avLst/>
                <a:gdLst/>
                <a:ahLst/>
                <a:cxnLst/>
                <a:rect l="l" t="t" r="r" b="b"/>
                <a:pathLst>
                  <a:path w="1643964" h="406400">
                    <a:moveTo>
                      <a:pt x="1440764" y="0"/>
                    </a:moveTo>
                    <a:cubicBezTo>
                      <a:pt x="1552988" y="0"/>
                      <a:pt x="1643964" y="90976"/>
                      <a:pt x="1643964" y="203200"/>
                    </a:cubicBezTo>
                    <a:cubicBezTo>
                      <a:pt x="1643964" y="315424"/>
                      <a:pt x="1552988" y="406400"/>
                      <a:pt x="1440764" y="406400"/>
                    </a:cubicBezTo>
                    <a:lnTo>
                      <a:pt x="203200" y="406400"/>
                    </a:lnTo>
                    <a:cubicBezTo>
                      <a:pt x="90976" y="406400"/>
                      <a:pt x="0" y="315424"/>
                      <a:pt x="0" y="203200"/>
                    </a:cubicBezTo>
                    <a:cubicBezTo>
                      <a:pt x="0" y="90976"/>
                      <a:pt x="90976" y="0"/>
                      <a:pt x="203200" y="0"/>
                    </a:cubicBezTo>
                    <a:close/>
                  </a:path>
                </a:pathLst>
              </a:custGeom>
              <a:solidFill>
                <a:srgbClr val="0E0E70"/>
              </a:solidFill>
              <a:ln w="57150" cap="sq">
                <a:solidFill>
                  <a:srgbClr val="000000"/>
                </a:solidFill>
                <a:prstDash val="solid"/>
                <a:miter/>
              </a:ln>
            </p:spPr>
          </p:sp>
          <p:sp>
            <p:nvSpPr>
              <p:cNvPr id="27" name="TextBox 27"/>
              <p:cNvSpPr txBox="1"/>
              <p:nvPr/>
            </p:nvSpPr>
            <p:spPr>
              <a:xfrm>
                <a:off x="0" y="-38100"/>
                <a:ext cx="1643964" cy="444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Freeform 28"/>
            <p:cNvSpPr/>
            <p:nvPr/>
          </p:nvSpPr>
          <p:spPr>
            <a:xfrm>
              <a:off x="3103605" y="2874442"/>
              <a:ext cx="11354736" cy="3011725"/>
            </a:xfrm>
            <a:custGeom>
              <a:avLst/>
              <a:gdLst/>
              <a:ahLst/>
              <a:cxnLst/>
              <a:rect l="l" t="t" r="r" b="b"/>
              <a:pathLst>
                <a:path w="11354736" h="3011725">
                  <a:moveTo>
                    <a:pt x="11354736" y="0"/>
                  </a:moveTo>
                  <a:lnTo>
                    <a:pt x="6719471" y="0"/>
                  </a:lnTo>
                  <a:cubicBezTo>
                    <a:pt x="6661256" y="0"/>
                    <a:pt x="6605426" y="23126"/>
                    <a:pt x="6564261" y="64290"/>
                  </a:cubicBezTo>
                  <a:cubicBezTo>
                    <a:pt x="6523097" y="105455"/>
                    <a:pt x="6499972" y="161285"/>
                    <a:pt x="6499972" y="219500"/>
                  </a:cubicBezTo>
                  <a:lnTo>
                    <a:pt x="6499972" y="1511523"/>
                  </a:lnTo>
                  <a:cubicBezTo>
                    <a:pt x="6499972" y="1569738"/>
                    <a:pt x="6476846" y="1625569"/>
                    <a:pt x="6435682" y="1666733"/>
                  </a:cubicBezTo>
                  <a:cubicBezTo>
                    <a:pt x="6394518" y="1707897"/>
                    <a:pt x="6338687" y="1731023"/>
                    <a:pt x="6280472" y="1731023"/>
                  </a:cubicBezTo>
                  <a:lnTo>
                    <a:pt x="219500" y="1731023"/>
                  </a:lnTo>
                  <a:cubicBezTo>
                    <a:pt x="161284" y="1731023"/>
                    <a:pt x="105454" y="1754148"/>
                    <a:pt x="64290" y="1795312"/>
                  </a:cubicBezTo>
                  <a:cubicBezTo>
                    <a:pt x="23125" y="1836477"/>
                    <a:pt x="0" y="1892307"/>
                    <a:pt x="0" y="1950522"/>
                  </a:cubicBezTo>
                  <a:lnTo>
                    <a:pt x="0" y="3011726"/>
                  </a:lnTo>
                </a:path>
              </a:pathLst>
            </a:custGeom>
            <a:ln w="100604" cap="rnd">
              <a:solidFill>
                <a:srgbClr val="ACB8C0"/>
              </a:solidFill>
              <a:prstDash val="solid"/>
              <a:headEnd type="none" w="sm" len="sm"/>
              <a:tailEnd type="arrow" w="med" len="sm"/>
            </a:ln>
          </p:spPr>
        </p:sp>
        <p:sp>
          <p:nvSpPr>
            <p:cNvPr id="29" name="TextBox 29"/>
            <p:cNvSpPr txBox="1"/>
            <p:nvPr/>
          </p:nvSpPr>
          <p:spPr>
            <a:xfrm>
              <a:off x="2605584" y="1509440"/>
              <a:ext cx="4064136" cy="578355"/>
            </a:xfrm>
            <a:prstGeom prst="rect">
              <a:avLst/>
            </a:prstGeom>
          </p:spPr>
          <p:txBody>
            <a:bodyPr lIns="0" tIns="0" rIns="0" bIns="0" rtlCol="0" anchor="t">
              <a:spAutoFit/>
            </a:bodyPr>
            <a:lstStyle/>
            <a:p>
              <a:pPr marL="0" lvl="0" indent="0" algn="ctr">
                <a:lnSpc>
                  <a:spcPts val="3627"/>
                </a:lnSpc>
                <a:spcBef>
                  <a:spcPct val="0"/>
                </a:spcBef>
              </a:pPr>
              <a:r>
                <a:rPr lang="en-US" sz="2590" u="none" strike="noStrike">
                  <a:solidFill>
                    <a:srgbClr val="FFFFFF"/>
                  </a:solidFill>
                  <a:latin typeface="Chewy"/>
                  <a:ea typeface="Chewy"/>
                  <a:cs typeface="Chewy"/>
                  <a:sym typeface="Chewy"/>
                </a:rPr>
                <a:t>User Uploads Dataset</a:t>
              </a:r>
            </a:p>
          </p:txBody>
        </p:sp>
        <p:sp>
          <p:nvSpPr>
            <p:cNvPr id="30" name="TextBox 30"/>
            <p:cNvSpPr txBox="1"/>
            <p:nvPr/>
          </p:nvSpPr>
          <p:spPr>
            <a:xfrm>
              <a:off x="15186866" y="2248392"/>
              <a:ext cx="3473784" cy="1194952"/>
            </a:xfrm>
            <a:prstGeom prst="rect">
              <a:avLst/>
            </a:prstGeom>
          </p:spPr>
          <p:txBody>
            <a:bodyPr lIns="0" tIns="0" rIns="0" bIns="0" rtlCol="0" anchor="t">
              <a:spAutoFit/>
            </a:bodyPr>
            <a:lstStyle/>
            <a:p>
              <a:pPr marL="0" lvl="0" indent="0" algn="ctr">
                <a:lnSpc>
                  <a:spcPts val="3627"/>
                </a:lnSpc>
                <a:spcBef>
                  <a:spcPct val="0"/>
                </a:spcBef>
              </a:pPr>
              <a:r>
                <a:rPr lang="en-US" sz="2590">
                  <a:solidFill>
                    <a:srgbClr val="FFFFFF"/>
                  </a:solidFill>
                  <a:latin typeface="Chewy"/>
                  <a:ea typeface="Chewy"/>
                  <a:cs typeface="Chewy"/>
                  <a:sym typeface="Chewy"/>
                </a:rPr>
                <a:t>Gemini AI Generate analysis </a:t>
              </a:r>
            </a:p>
          </p:txBody>
        </p:sp>
        <p:sp>
          <p:nvSpPr>
            <p:cNvPr id="31" name="TextBox 31"/>
            <p:cNvSpPr txBox="1"/>
            <p:nvPr/>
          </p:nvSpPr>
          <p:spPr>
            <a:xfrm>
              <a:off x="1062440" y="6085101"/>
              <a:ext cx="4082330" cy="1177251"/>
            </a:xfrm>
            <a:prstGeom prst="rect">
              <a:avLst/>
            </a:prstGeom>
          </p:spPr>
          <p:txBody>
            <a:bodyPr lIns="0" tIns="0" rIns="0" bIns="0" rtlCol="0" anchor="t">
              <a:spAutoFit/>
            </a:bodyPr>
            <a:lstStyle/>
            <a:p>
              <a:pPr marL="0" lvl="0" indent="0" algn="ctr">
                <a:lnSpc>
                  <a:spcPts val="3627"/>
                </a:lnSpc>
                <a:spcBef>
                  <a:spcPct val="0"/>
                </a:spcBef>
              </a:pPr>
              <a:r>
                <a:rPr lang="en-US" sz="2590">
                  <a:solidFill>
                    <a:srgbClr val="FFFFFF"/>
                  </a:solidFill>
                  <a:latin typeface="Chewy"/>
                  <a:ea typeface="Chewy"/>
                  <a:cs typeface="Chewy"/>
                  <a:sym typeface="Chewy"/>
                </a:rPr>
                <a:t>Save Metadata to database</a:t>
              </a:r>
            </a:p>
          </p:txBody>
        </p:sp>
        <p:grpSp>
          <p:nvGrpSpPr>
            <p:cNvPr id="32" name="Group 32"/>
            <p:cNvGrpSpPr/>
            <p:nvPr/>
          </p:nvGrpSpPr>
          <p:grpSpPr>
            <a:xfrm>
              <a:off x="8388982" y="5409476"/>
              <a:ext cx="6202987" cy="1552737"/>
              <a:chOff x="0" y="0"/>
              <a:chExt cx="1777726" cy="445002"/>
            </a:xfrm>
          </p:grpSpPr>
          <p:sp>
            <p:nvSpPr>
              <p:cNvPr id="33" name="Freeform 33"/>
              <p:cNvSpPr/>
              <p:nvPr/>
            </p:nvSpPr>
            <p:spPr>
              <a:xfrm>
                <a:off x="0" y="0"/>
                <a:ext cx="1777726" cy="445002"/>
              </a:xfrm>
              <a:custGeom>
                <a:avLst/>
                <a:gdLst/>
                <a:ahLst/>
                <a:cxnLst/>
                <a:rect l="l" t="t" r="r" b="b"/>
                <a:pathLst>
                  <a:path w="1777726" h="445002">
                    <a:moveTo>
                      <a:pt x="1574526" y="0"/>
                    </a:moveTo>
                    <a:cubicBezTo>
                      <a:pt x="1686750" y="0"/>
                      <a:pt x="1777726" y="99617"/>
                      <a:pt x="1777726" y="222501"/>
                    </a:cubicBezTo>
                    <a:cubicBezTo>
                      <a:pt x="1777726" y="345385"/>
                      <a:pt x="1686750" y="445002"/>
                      <a:pt x="1574526" y="445002"/>
                    </a:cubicBezTo>
                    <a:lnTo>
                      <a:pt x="203200" y="445002"/>
                    </a:lnTo>
                    <a:cubicBezTo>
                      <a:pt x="90976" y="445002"/>
                      <a:pt x="0" y="345385"/>
                      <a:pt x="0" y="222501"/>
                    </a:cubicBezTo>
                    <a:cubicBezTo>
                      <a:pt x="0" y="99617"/>
                      <a:pt x="90976" y="0"/>
                      <a:pt x="203200" y="0"/>
                    </a:cubicBezTo>
                    <a:close/>
                  </a:path>
                </a:pathLst>
              </a:custGeom>
              <a:solidFill>
                <a:srgbClr val="0E0E70"/>
              </a:solidFill>
              <a:ln w="57150" cap="sq">
                <a:solidFill>
                  <a:srgbClr val="000000"/>
                </a:solidFill>
                <a:prstDash val="solid"/>
                <a:miter/>
              </a:ln>
            </p:spPr>
          </p:sp>
          <p:sp>
            <p:nvSpPr>
              <p:cNvPr id="34" name="TextBox 34"/>
              <p:cNvSpPr txBox="1"/>
              <p:nvPr/>
            </p:nvSpPr>
            <p:spPr>
              <a:xfrm>
                <a:off x="0" y="-47625"/>
                <a:ext cx="1777726" cy="492627"/>
              </a:xfrm>
              <a:prstGeom prst="rect">
                <a:avLst/>
              </a:prstGeom>
            </p:spPr>
            <p:txBody>
              <a:bodyPr lIns="48620" tIns="48620" rIns="48620" bIns="48620" rtlCol="0" anchor="ctr"/>
              <a:lstStyle/>
              <a:p>
                <a:pPr marL="0" lvl="0" indent="0" algn="ctr">
                  <a:lnSpc>
                    <a:spcPts val="2864"/>
                  </a:lnSpc>
                  <a:spcBef>
                    <a:spcPct val="0"/>
                  </a:spcBef>
                </a:pPr>
                <a:endParaRPr/>
              </a:p>
            </p:txBody>
          </p:sp>
        </p:grpSp>
        <p:grpSp>
          <p:nvGrpSpPr>
            <p:cNvPr id="35" name="Group 35"/>
            <p:cNvGrpSpPr/>
            <p:nvPr/>
          </p:nvGrpSpPr>
          <p:grpSpPr>
            <a:xfrm>
              <a:off x="18660650" y="4119376"/>
              <a:ext cx="5403516" cy="1526334"/>
              <a:chOff x="0" y="0"/>
              <a:chExt cx="1548604" cy="437435"/>
            </a:xfrm>
          </p:grpSpPr>
          <p:sp>
            <p:nvSpPr>
              <p:cNvPr id="36" name="Freeform 36"/>
              <p:cNvSpPr/>
              <p:nvPr/>
            </p:nvSpPr>
            <p:spPr>
              <a:xfrm>
                <a:off x="0" y="0"/>
                <a:ext cx="1548604" cy="437435"/>
              </a:xfrm>
              <a:custGeom>
                <a:avLst/>
                <a:gdLst/>
                <a:ahLst/>
                <a:cxnLst/>
                <a:rect l="l" t="t" r="r" b="b"/>
                <a:pathLst>
                  <a:path w="1548604" h="437435">
                    <a:moveTo>
                      <a:pt x="1345404" y="0"/>
                    </a:moveTo>
                    <a:cubicBezTo>
                      <a:pt x="1457628" y="0"/>
                      <a:pt x="1548604" y="97923"/>
                      <a:pt x="1548604" y="218718"/>
                    </a:cubicBezTo>
                    <a:cubicBezTo>
                      <a:pt x="1548604" y="339512"/>
                      <a:pt x="1457628" y="437435"/>
                      <a:pt x="1345404" y="437435"/>
                    </a:cubicBezTo>
                    <a:lnTo>
                      <a:pt x="203200" y="437435"/>
                    </a:lnTo>
                    <a:cubicBezTo>
                      <a:pt x="90976" y="437435"/>
                      <a:pt x="0" y="339512"/>
                      <a:pt x="0" y="218718"/>
                    </a:cubicBezTo>
                    <a:cubicBezTo>
                      <a:pt x="0" y="97923"/>
                      <a:pt x="90976" y="0"/>
                      <a:pt x="203200" y="0"/>
                    </a:cubicBezTo>
                    <a:close/>
                  </a:path>
                </a:pathLst>
              </a:custGeom>
              <a:solidFill>
                <a:srgbClr val="0E0E70"/>
              </a:solidFill>
              <a:ln w="57150" cap="sq">
                <a:solidFill>
                  <a:srgbClr val="000000"/>
                </a:solidFill>
                <a:prstDash val="solid"/>
                <a:miter/>
              </a:ln>
            </p:spPr>
          </p:sp>
          <p:sp>
            <p:nvSpPr>
              <p:cNvPr id="37" name="TextBox 37"/>
              <p:cNvSpPr txBox="1"/>
              <p:nvPr/>
            </p:nvSpPr>
            <p:spPr>
              <a:xfrm>
                <a:off x="0" y="-57150"/>
                <a:ext cx="1548604" cy="494585"/>
              </a:xfrm>
              <a:prstGeom prst="rect">
                <a:avLst/>
              </a:prstGeom>
            </p:spPr>
            <p:txBody>
              <a:bodyPr lIns="48620" tIns="48620" rIns="48620" bIns="48620" rtlCol="0" anchor="ctr"/>
              <a:lstStyle/>
              <a:p>
                <a:pPr marL="0" lvl="0" indent="0" algn="ctr">
                  <a:lnSpc>
                    <a:spcPts val="3514"/>
                  </a:lnSpc>
                  <a:spcBef>
                    <a:spcPct val="0"/>
                  </a:spcBef>
                </a:pPr>
                <a:endParaRPr/>
              </a:p>
            </p:txBody>
          </p:sp>
        </p:grpSp>
        <p:sp>
          <p:nvSpPr>
            <p:cNvPr id="38" name="Freeform 38"/>
            <p:cNvSpPr/>
            <p:nvPr/>
          </p:nvSpPr>
          <p:spPr>
            <a:xfrm>
              <a:off x="14591970" y="4882543"/>
              <a:ext cx="4068680" cy="1303301"/>
            </a:xfrm>
            <a:custGeom>
              <a:avLst/>
              <a:gdLst/>
              <a:ahLst/>
              <a:cxnLst/>
              <a:rect l="l" t="t" r="r" b="b"/>
              <a:pathLst>
                <a:path w="4068680" h="1303301">
                  <a:moveTo>
                    <a:pt x="0" y="1303302"/>
                  </a:moveTo>
                  <a:lnTo>
                    <a:pt x="568297" y="1303302"/>
                  </a:lnTo>
                  <a:cubicBezTo>
                    <a:pt x="624087" y="1303302"/>
                    <a:pt x="677591" y="1281139"/>
                    <a:pt x="717040" y="1241690"/>
                  </a:cubicBezTo>
                  <a:cubicBezTo>
                    <a:pt x="756488" y="1202241"/>
                    <a:pt x="778651" y="1148737"/>
                    <a:pt x="778651" y="1092948"/>
                  </a:cubicBezTo>
                  <a:lnTo>
                    <a:pt x="778651" y="210354"/>
                  </a:lnTo>
                  <a:cubicBezTo>
                    <a:pt x="778651" y="154565"/>
                    <a:pt x="800814" y="101061"/>
                    <a:pt x="840263" y="61611"/>
                  </a:cubicBezTo>
                  <a:cubicBezTo>
                    <a:pt x="879712" y="22162"/>
                    <a:pt x="933216" y="0"/>
                    <a:pt x="989006" y="0"/>
                  </a:cubicBezTo>
                  <a:lnTo>
                    <a:pt x="4068680" y="0"/>
                  </a:lnTo>
                </a:path>
              </a:pathLst>
            </a:custGeom>
            <a:ln w="91458" cap="rnd">
              <a:solidFill>
                <a:srgbClr val="ACB8C0"/>
              </a:solidFill>
              <a:prstDash val="solid"/>
              <a:headEnd type="none" w="sm" len="sm"/>
              <a:tailEnd type="arrow" w="med" len="sm"/>
            </a:ln>
          </p:spPr>
        </p:sp>
        <p:grpSp>
          <p:nvGrpSpPr>
            <p:cNvPr id="39" name="Group 39"/>
            <p:cNvGrpSpPr/>
            <p:nvPr/>
          </p:nvGrpSpPr>
          <p:grpSpPr>
            <a:xfrm>
              <a:off x="9206692" y="8406135"/>
              <a:ext cx="5184588" cy="1577265"/>
              <a:chOff x="0" y="0"/>
              <a:chExt cx="1485861" cy="452031"/>
            </a:xfrm>
          </p:grpSpPr>
          <p:sp>
            <p:nvSpPr>
              <p:cNvPr id="40" name="Freeform 40"/>
              <p:cNvSpPr/>
              <p:nvPr/>
            </p:nvSpPr>
            <p:spPr>
              <a:xfrm>
                <a:off x="0" y="0"/>
                <a:ext cx="1485861" cy="452031"/>
              </a:xfrm>
              <a:custGeom>
                <a:avLst/>
                <a:gdLst/>
                <a:ahLst/>
                <a:cxnLst/>
                <a:rect l="l" t="t" r="r" b="b"/>
                <a:pathLst>
                  <a:path w="1485861" h="452031">
                    <a:moveTo>
                      <a:pt x="1282661" y="0"/>
                    </a:moveTo>
                    <a:cubicBezTo>
                      <a:pt x="1394885" y="0"/>
                      <a:pt x="1485861" y="101191"/>
                      <a:pt x="1485861" y="226016"/>
                    </a:cubicBezTo>
                    <a:cubicBezTo>
                      <a:pt x="1485861" y="350841"/>
                      <a:pt x="1394885" y="452031"/>
                      <a:pt x="1282661" y="452031"/>
                    </a:cubicBezTo>
                    <a:lnTo>
                      <a:pt x="203200" y="452031"/>
                    </a:lnTo>
                    <a:cubicBezTo>
                      <a:pt x="90976" y="452031"/>
                      <a:pt x="0" y="350841"/>
                      <a:pt x="0" y="226016"/>
                    </a:cubicBezTo>
                    <a:cubicBezTo>
                      <a:pt x="0" y="101191"/>
                      <a:pt x="90976" y="0"/>
                      <a:pt x="203200" y="0"/>
                    </a:cubicBezTo>
                    <a:close/>
                  </a:path>
                </a:pathLst>
              </a:custGeom>
              <a:solidFill>
                <a:srgbClr val="0E0E70"/>
              </a:solidFill>
              <a:ln w="57150" cap="sq">
                <a:solidFill>
                  <a:srgbClr val="000000"/>
                </a:solidFill>
                <a:prstDash val="solid"/>
                <a:miter/>
              </a:ln>
            </p:spPr>
          </p:sp>
          <p:sp>
            <p:nvSpPr>
              <p:cNvPr id="41" name="TextBox 41"/>
              <p:cNvSpPr txBox="1"/>
              <p:nvPr/>
            </p:nvSpPr>
            <p:spPr>
              <a:xfrm>
                <a:off x="0" y="-47625"/>
                <a:ext cx="1485861" cy="499656"/>
              </a:xfrm>
              <a:prstGeom prst="rect">
                <a:avLst/>
              </a:prstGeom>
            </p:spPr>
            <p:txBody>
              <a:bodyPr lIns="48620" tIns="48620" rIns="48620" bIns="48620" rtlCol="0" anchor="ctr"/>
              <a:lstStyle/>
              <a:p>
                <a:pPr marL="0" lvl="0" indent="0" algn="ctr">
                  <a:lnSpc>
                    <a:spcPts val="2864"/>
                  </a:lnSpc>
                  <a:spcBef>
                    <a:spcPct val="0"/>
                  </a:spcBef>
                </a:pPr>
                <a:endParaRPr/>
              </a:p>
            </p:txBody>
          </p:sp>
        </p:grpSp>
        <p:sp>
          <p:nvSpPr>
            <p:cNvPr id="42" name="Freeform 42"/>
            <p:cNvSpPr/>
            <p:nvPr/>
          </p:nvSpPr>
          <p:spPr>
            <a:xfrm>
              <a:off x="11798986" y="5645710"/>
              <a:ext cx="9563423" cy="2760425"/>
            </a:xfrm>
            <a:custGeom>
              <a:avLst/>
              <a:gdLst/>
              <a:ahLst/>
              <a:cxnLst/>
              <a:rect l="l" t="t" r="r" b="b"/>
              <a:pathLst>
                <a:path w="9563423" h="2760425">
                  <a:moveTo>
                    <a:pt x="9563423" y="0"/>
                  </a:moveTo>
                  <a:lnTo>
                    <a:pt x="9563423" y="1505033"/>
                  </a:lnTo>
                  <a:cubicBezTo>
                    <a:pt x="9563423" y="1560822"/>
                    <a:pt x="9541260" y="1614327"/>
                    <a:pt x="9501811" y="1653776"/>
                  </a:cubicBezTo>
                  <a:cubicBezTo>
                    <a:pt x="9462363" y="1693225"/>
                    <a:pt x="9408859" y="1715387"/>
                    <a:pt x="9353069" y="1715387"/>
                  </a:cubicBezTo>
                  <a:lnTo>
                    <a:pt x="210354" y="1715387"/>
                  </a:lnTo>
                  <a:cubicBezTo>
                    <a:pt x="154565" y="1715387"/>
                    <a:pt x="101061" y="1737549"/>
                    <a:pt x="61611" y="1776998"/>
                  </a:cubicBezTo>
                  <a:cubicBezTo>
                    <a:pt x="22162" y="1816448"/>
                    <a:pt x="0" y="1869952"/>
                    <a:pt x="0" y="1925741"/>
                  </a:cubicBezTo>
                  <a:lnTo>
                    <a:pt x="0" y="2760425"/>
                  </a:lnTo>
                </a:path>
              </a:pathLst>
            </a:custGeom>
            <a:ln w="91458" cap="rnd">
              <a:solidFill>
                <a:srgbClr val="ACB8C0"/>
              </a:solidFill>
              <a:prstDash val="solid"/>
              <a:headEnd type="none" w="sm" len="sm"/>
              <a:tailEnd type="arrow" w="med" len="sm"/>
            </a:ln>
          </p:spPr>
        </p:sp>
        <p:sp>
          <p:nvSpPr>
            <p:cNvPr id="43" name="Freeform 43"/>
            <p:cNvSpPr/>
            <p:nvPr/>
          </p:nvSpPr>
          <p:spPr>
            <a:xfrm>
              <a:off x="14391280" y="8914975"/>
              <a:ext cx="4734364" cy="279792"/>
            </a:xfrm>
            <a:custGeom>
              <a:avLst/>
              <a:gdLst/>
              <a:ahLst/>
              <a:cxnLst/>
              <a:rect l="l" t="t" r="r" b="b"/>
              <a:pathLst>
                <a:path w="4734364" h="279792">
                  <a:moveTo>
                    <a:pt x="0" y="279792"/>
                  </a:moveTo>
                  <a:lnTo>
                    <a:pt x="1956998" y="279792"/>
                  </a:lnTo>
                  <a:cubicBezTo>
                    <a:pt x="1994100" y="279792"/>
                    <a:pt x="2029684" y="265054"/>
                    <a:pt x="2055919" y="238818"/>
                  </a:cubicBezTo>
                  <a:cubicBezTo>
                    <a:pt x="2082155" y="212583"/>
                    <a:pt x="2096893" y="176999"/>
                    <a:pt x="2096893" y="139896"/>
                  </a:cubicBezTo>
                  <a:lnTo>
                    <a:pt x="2096893" y="139896"/>
                  </a:lnTo>
                  <a:cubicBezTo>
                    <a:pt x="2096893" y="102794"/>
                    <a:pt x="2111632" y="67211"/>
                    <a:pt x="2137868" y="40974"/>
                  </a:cubicBezTo>
                  <a:cubicBezTo>
                    <a:pt x="2164103" y="14739"/>
                    <a:pt x="2199687" y="0"/>
                    <a:pt x="2236790" y="0"/>
                  </a:cubicBezTo>
                  <a:lnTo>
                    <a:pt x="4734363" y="0"/>
                  </a:lnTo>
                </a:path>
              </a:pathLst>
            </a:custGeom>
            <a:ln w="91458" cap="rnd">
              <a:solidFill>
                <a:srgbClr val="ACB8C0"/>
              </a:solidFill>
              <a:prstDash val="solid"/>
              <a:headEnd type="none" w="sm" len="sm"/>
              <a:tailEnd type="arrow" w="med" len="sm"/>
            </a:ln>
          </p:spPr>
        </p:sp>
        <p:grpSp>
          <p:nvGrpSpPr>
            <p:cNvPr id="44" name="Group 44"/>
            <p:cNvGrpSpPr/>
            <p:nvPr/>
          </p:nvGrpSpPr>
          <p:grpSpPr>
            <a:xfrm>
              <a:off x="19125643" y="8126343"/>
              <a:ext cx="4473531" cy="1577265"/>
              <a:chOff x="0" y="0"/>
              <a:chExt cx="1282078" cy="452031"/>
            </a:xfrm>
          </p:grpSpPr>
          <p:sp>
            <p:nvSpPr>
              <p:cNvPr id="45" name="Freeform 45"/>
              <p:cNvSpPr/>
              <p:nvPr/>
            </p:nvSpPr>
            <p:spPr>
              <a:xfrm>
                <a:off x="0" y="0"/>
                <a:ext cx="1282078" cy="452031"/>
              </a:xfrm>
              <a:custGeom>
                <a:avLst/>
                <a:gdLst/>
                <a:ahLst/>
                <a:cxnLst/>
                <a:rect l="l" t="t" r="r" b="b"/>
                <a:pathLst>
                  <a:path w="1282078" h="452031">
                    <a:moveTo>
                      <a:pt x="1078878" y="0"/>
                    </a:moveTo>
                    <a:cubicBezTo>
                      <a:pt x="1191102" y="0"/>
                      <a:pt x="1282078" y="101191"/>
                      <a:pt x="1282078" y="226016"/>
                    </a:cubicBezTo>
                    <a:cubicBezTo>
                      <a:pt x="1282078" y="350841"/>
                      <a:pt x="1191102" y="452031"/>
                      <a:pt x="1078878" y="452031"/>
                    </a:cubicBezTo>
                    <a:lnTo>
                      <a:pt x="203200" y="452031"/>
                    </a:lnTo>
                    <a:cubicBezTo>
                      <a:pt x="90976" y="452031"/>
                      <a:pt x="0" y="350841"/>
                      <a:pt x="0" y="226016"/>
                    </a:cubicBezTo>
                    <a:cubicBezTo>
                      <a:pt x="0" y="101191"/>
                      <a:pt x="90976" y="0"/>
                      <a:pt x="203200" y="0"/>
                    </a:cubicBezTo>
                    <a:close/>
                  </a:path>
                </a:pathLst>
              </a:custGeom>
              <a:solidFill>
                <a:srgbClr val="0E0E70"/>
              </a:solidFill>
              <a:ln w="57150" cap="sq">
                <a:solidFill>
                  <a:srgbClr val="000000"/>
                </a:solidFill>
                <a:prstDash val="solid"/>
                <a:miter/>
              </a:ln>
            </p:spPr>
          </p:sp>
          <p:sp>
            <p:nvSpPr>
              <p:cNvPr id="46" name="TextBox 46"/>
              <p:cNvSpPr txBox="1"/>
              <p:nvPr/>
            </p:nvSpPr>
            <p:spPr>
              <a:xfrm>
                <a:off x="0" y="-47625"/>
                <a:ext cx="1282078" cy="499656"/>
              </a:xfrm>
              <a:prstGeom prst="rect">
                <a:avLst/>
              </a:prstGeom>
            </p:spPr>
            <p:txBody>
              <a:bodyPr lIns="48620" tIns="48620" rIns="48620" bIns="48620" rtlCol="0" anchor="ctr"/>
              <a:lstStyle/>
              <a:p>
                <a:pPr marL="0" lvl="0" indent="0" algn="ctr">
                  <a:lnSpc>
                    <a:spcPts val="2864"/>
                  </a:lnSpc>
                  <a:spcBef>
                    <a:spcPct val="0"/>
                  </a:spcBef>
                </a:pPr>
                <a:endParaRPr/>
              </a:p>
            </p:txBody>
          </p:sp>
        </p:grpSp>
        <p:sp>
          <p:nvSpPr>
            <p:cNvPr id="47" name="TextBox 47"/>
            <p:cNvSpPr txBox="1"/>
            <p:nvPr/>
          </p:nvSpPr>
          <p:spPr>
            <a:xfrm>
              <a:off x="19125643" y="4344882"/>
              <a:ext cx="4702475" cy="1064594"/>
            </a:xfrm>
            <a:prstGeom prst="rect">
              <a:avLst/>
            </a:prstGeom>
          </p:spPr>
          <p:txBody>
            <a:bodyPr lIns="0" tIns="0" rIns="0" bIns="0" rtlCol="0" anchor="t">
              <a:spAutoFit/>
            </a:bodyPr>
            <a:lstStyle/>
            <a:p>
              <a:pPr marL="0" lvl="0" indent="0" algn="ctr">
                <a:lnSpc>
                  <a:spcPts val="3223"/>
                </a:lnSpc>
                <a:spcBef>
                  <a:spcPct val="0"/>
                </a:spcBef>
              </a:pPr>
              <a:r>
                <a:rPr lang="en-US" sz="2302">
                  <a:solidFill>
                    <a:srgbClr val="FFFFFF"/>
                  </a:solidFill>
                  <a:latin typeface="Chewy"/>
                  <a:ea typeface="Chewy"/>
                  <a:cs typeface="Chewy"/>
                  <a:sym typeface="Chewy"/>
                </a:rPr>
                <a:t>Relationship &amp; Lineage Detection</a:t>
              </a:r>
            </a:p>
          </p:txBody>
        </p:sp>
        <p:sp>
          <p:nvSpPr>
            <p:cNvPr id="48" name="TextBox 48"/>
            <p:cNvSpPr txBox="1"/>
            <p:nvPr/>
          </p:nvSpPr>
          <p:spPr>
            <a:xfrm>
              <a:off x="9393303" y="8639014"/>
              <a:ext cx="4811365" cy="1607302"/>
            </a:xfrm>
            <a:prstGeom prst="rect">
              <a:avLst/>
            </a:prstGeom>
          </p:spPr>
          <p:txBody>
            <a:bodyPr lIns="0" tIns="0" rIns="0" bIns="0" rtlCol="0" anchor="t">
              <a:spAutoFit/>
            </a:bodyPr>
            <a:lstStyle/>
            <a:p>
              <a:pPr algn="ctr">
                <a:lnSpc>
                  <a:spcPts val="3223"/>
                </a:lnSpc>
              </a:pPr>
              <a:r>
                <a:rPr lang="en-US" sz="2302">
                  <a:solidFill>
                    <a:srgbClr val="FFFFFF"/>
                  </a:solidFill>
                  <a:latin typeface="Chewy"/>
                  <a:ea typeface="Chewy"/>
                  <a:cs typeface="Chewy"/>
                  <a:sym typeface="Chewy"/>
                </a:rPr>
                <a:t>Governance Analysis &amp;</a:t>
              </a:r>
            </a:p>
            <a:p>
              <a:pPr algn="ctr">
                <a:lnSpc>
                  <a:spcPts val="3223"/>
                </a:lnSpc>
              </a:pPr>
              <a:r>
                <a:rPr lang="en-US" sz="2302">
                  <a:solidFill>
                    <a:srgbClr val="FFFFFF"/>
                  </a:solidFill>
                  <a:latin typeface="Chewy"/>
                  <a:ea typeface="Chewy"/>
                  <a:cs typeface="Chewy"/>
                  <a:sym typeface="Chewy"/>
                </a:rPr>
                <a:t>Save changes to Database</a:t>
              </a:r>
            </a:p>
            <a:p>
              <a:pPr marL="0" lvl="0" indent="0" algn="ctr">
                <a:lnSpc>
                  <a:spcPts val="3223"/>
                </a:lnSpc>
                <a:spcBef>
                  <a:spcPct val="0"/>
                </a:spcBef>
              </a:pPr>
              <a:endParaRPr lang="en-US" sz="2302">
                <a:solidFill>
                  <a:srgbClr val="FFFFFF"/>
                </a:solidFill>
                <a:latin typeface="Chewy"/>
                <a:ea typeface="Chewy"/>
                <a:cs typeface="Chewy"/>
                <a:sym typeface="Chewy"/>
              </a:endParaRPr>
            </a:p>
          </p:txBody>
        </p:sp>
        <p:sp>
          <p:nvSpPr>
            <p:cNvPr id="49" name="TextBox 49"/>
            <p:cNvSpPr txBox="1"/>
            <p:nvPr/>
          </p:nvSpPr>
          <p:spPr>
            <a:xfrm>
              <a:off x="19117366" y="8348985"/>
              <a:ext cx="4243470" cy="1064594"/>
            </a:xfrm>
            <a:prstGeom prst="rect">
              <a:avLst/>
            </a:prstGeom>
          </p:spPr>
          <p:txBody>
            <a:bodyPr lIns="0" tIns="0" rIns="0" bIns="0" rtlCol="0" anchor="t">
              <a:spAutoFit/>
            </a:bodyPr>
            <a:lstStyle/>
            <a:p>
              <a:pPr marL="0" lvl="0" indent="0" algn="ctr">
                <a:lnSpc>
                  <a:spcPts val="3223"/>
                </a:lnSpc>
                <a:spcBef>
                  <a:spcPct val="0"/>
                </a:spcBef>
              </a:pPr>
              <a:r>
                <a:rPr lang="en-US" sz="2302" u="none" strike="noStrike">
                  <a:solidFill>
                    <a:srgbClr val="FFFFFF"/>
                  </a:solidFill>
                  <a:latin typeface="Chewy"/>
                  <a:ea typeface="Chewy"/>
                  <a:cs typeface="Chewy"/>
                  <a:sym typeface="Chewy"/>
                </a:rPr>
                <a:t>Dashboard &amp; Export System</a:t>
              </a:r>
            </a:p>
          </p:txBody>
        </p:sp>
        <p:sp>
          <p:nvSpPr>
            <p:cNvPr id="50" name="TextBox 50"/>
            <p:cNvSpPr txBox="1"/>
            <p:nvPr/>
          </p:nvSpPr>
          <p:spPr>
            <a:xfrm>
              <a:off x="8753082" y="5655049"/>
              <a:ext cx="5474789" cy="1607302"/>
            </a:xfrm>
            <a:prstGeom prst="rect">
              <a:avLst/>
            </a:prstGeom>
          </p:spPr>
          <p:txBody>
            <a:bodyPr lIns="0" tIns="0" rIns="0" bIns="0" rtlCol="0" anchor="t">
              <a:spAutoFit/>
            </a:bodyPr>
            <a:lstStyle/>
            <a:p>
              <a:pPr algn="ctr">
                <a:lnSpc>
                  <a:spcPts val="3223"/>
                </a:lnSpc>
              </a:pPr>
              <a:r>
                <a:rPr lang="en-US" sz="2302">
                  <a:solidFill>
                    <a:srgbClr val="FFFFFF"/>
                  </a:solidFill>
                  <a:latin typeface="Chewy"/>
                  <a:ea typeface="Chewy"/>
                  <a:cs typeface="Chewy"/>
                  <a:sym typeface="Chewy"/>
                </a:rPr>
                <a:t>Health score</a:t>
              </a:r>
            </a:p>
            <a:p>
              <a:pPr algn="ctr">
                <a:lnSpc>
                  <a:spcPts val="3223"/>
                </a:lnSpc>
              </a:pPr>
              <a:r>
                <a:rPr lang="en-US" sz="2302">
                  <a:solidFill>
                    <a:srgbClr val="FFFFFF"/>
                  </a:solidFill>
                  <a:latin typeface="Chewy"/>
                  <a:ea typeface="Chewy"/>
                  <a:cs typeface="Chewy"/>
                  <a:sym typeface="Chewy"/>
                </a:rPr>
                <a:t> Generation </a:t>
              </a:r>
            </a:p>
            <a:p>
              <a:pPr marL="0" lvl="0" indent="0" algn="ctr">
                <a:lnSpc>
                  <a:spcPts val="3223"/>
                </a:lnSpc>
                <a:spcBef>
                  <a:spcPct val="0"/>
                </a:spcBef>
              </a:pPr>
              <a:endParaRPr lang="en-US" sz="2302">
                <a:solidFill>
                  <a:srgbClr val="FFFFFF"/>
                </a:solidFill>
                <a:latin typeface="Chewy"/>
                <a:ea typeface="Chewy"/>
                <a:cs typeface="Chewy"/>
                <a:sym typeface="Chewy"/>
              </a:endParaRPr>
            </a:p>
          </p:txBody>
        </p:sp>
      </p:grpSp>
      <p:sp>
        <p:nvSpPr>
          <p:cNvPr id="51" name="Freeform 51"/>
          <p:cNvSpPr/>
          <p:nvPr/>
        </p:nvSpPr>
        <p:spPr>
          <a:xfrm>
            <a:off x="2476071" y="6689965"/>
            <a:ext cx="3990179" cy="1745403"/>
          </a:xfrm>
          <a:custGeom>
            <a:avLst/>
            <a:gdLst/>
            <a:ahLst/>
            <a:cxnLst/>
            <a:rect l="l" t="t" r="r" b="b"/>
            <a:pathLst>
              <a:path w="3990179" h="1745403">
                <a:moveTo>
                  <a:pt x="0" y="966262"/>
                </a:moveTo>
                <a:lnTo>
                  <a:pt x="0" y="1516802"/>
                </a:lnTo>
                <a:cubicBezTo>
                  <a:pt x="0" y="1577431"/>
                  <a:pt x="24084" y="1635576"/>
                  <a:pt x="66955" y="1678447"/>
                </a:cubicBezTo>
                <a:cubicBezTo>
                  <a:pt x="109826" y="1721318"/>
                  <a:pt x="167971" y="1745402"/>
                  <a:pt x="228600" y="1745402"/>
                </a:cubicBezTo>
                <a:lnTo>
                  <a:pt x="2493442" y="1745402"/>
                </a:lnTo>
                <a:cubicBezTo>
                  <a:pt x="2554070" y="1745402"/>
                  <a:pt x="2612215" y="1721318"/>
                  <a:pt x="2655086" y="1678447"/>
                </a:cubicBezTo>
                <a:cubicBezTo>
                  <a:pt x="2697957" y="1635576"/>
                  <a:pt x="2722042" y="1577431"/>
                  <a:pt x="2722042" y="1516802"/>
                </a:cubicBezTo>
                <a:lnTo>
                  <a:pt x="2722042" y="228600"/>
                </a:lnTo>
                <a:cubicBezTo>
                  <a:pt x="2722042" y="167971"/>
                  <a:pt x="2746126" y="109825"/>
                  <a:pt x="2788997" y="66955"/>
                </a:cubicBezTo>
                <a:cubicBezTo>
                  <a:pt x="2831868" y="24084"/>
                  <a:pt x="2890013" y="0"/>
                  <a:pt x="2950642" y="0"/>
                </a:cubicBezTo>
                <a:lnTo>
                  <a:pt x="3990178" y="0"/>
                </a:lnTo>
              </a:path>
            </a:pathLst>
          </a:custGeom>
          <a:ln w="104775" cap="rnd">
            <a:solidFill>
              <a:srgbClr val="ACB8C0"/>
            </a:solidFill>
            <a:prstDash val="solid"/>
            <a:headEnd type="none" w="sm" len="sm"/>
            <a:tailEnd type="arrow" w="med"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6388629" y="211274"/>
            <a:ext cx="1663046" cy="1616250"/>
            <a:chOff x="0" y="0"/>
            <a:chExt cx="2217395" cy="2155000"/>
          </a:xfrm>
        </p:grpSpPr>
        <p:sp>
          <p:nvSpPr>
            <p:cNvPr id="5" name="Freeform 5"/>
            <p:cNvSpPr/>
            <p:nvPr/>
          </p:nvSpPr>
          <p:spPr>
            <a:xfrm>
              <a:off x="12700" y="12700"/>
              <a:ext cx="2192020" cy="2129536"/>
            </a:xfrm>
            <a:custGeom>
              <a:avLst/>
              <a:gdLst/>
              <a:ahLst/>
              <a:cxnLst/>
              <a:rect l="l" t="t" r="r" b="b"/>
              <a:pathLst>
                <a:path w="2192020" h="2129536">
                  <a:moveTo>
                    <a:pt x="0" y="1064768"/>
                  </a:moveTo>
                  <a:cubicBezTo>
                    <a:pt x="0" y="476758"/>
                    <a:pt x="490728" y="0"/>
                    <a:pt x="1096010" y="0"/>
                  </a:cubicBezTo>
                  <a:cubicBezTo>
                    <a:pt x="1701292" y="0"/>
                    <a:pt x="2192020" y="476758"/>
                    <a:pt x="2192020" y="1064768"/>
                  </a:cubicBezTo>
                  <a:cubicBezTo>
                    <a:pt x="2192020" y="1652778"/>
                    <a:pt x="1701292" y="2129536"/>
                    <a:pt x="1096010" y="2129536"/>
                  </a:cubicBezTo>
                  <a:cubicBezTo>
                    <a:pt x="490728" y="2129536"/>
                    <a:pt x="0" y="1652905"/>
                    <a:pt x="0" y="1064768"/>
                  </a:cubicBezTo>
                  <a:close/>
                </a:path>
              </a:pathLst>
            </a:custGeom>
            <a:solidFill>
              <a:srgbClr val="EEEEEE"/>
            </a:solidFill>
          </p:spPr>
        </p:sp>
        <p:sp>
          <p:nvSpPr>
            <p:cNvPr id="6" name="Freeform 6"/>
            <p:cNvSpPr/>
            <p:nvPr/>
          </p:nvSpPr>
          <p:spPr>
            <a:xfrm>
              <a:off x="0" y="0"/>
              <a:ext cx="2217420" cy="2154936"/>
            </a:xfrm>
            <a:custGeom>
              <a:avLst/>
              <a:gdLst/>
              <a:ahLst/>
              <a:cxnLst/>
              <a:rect l="l" t="t" r="r" b="b"/>
              <a:pathLst>
                <a:path w="2217420" h="2154936">
                  <a:moveTo>
                    <a:pt x="0" y="1077468"/>
                  </a:moveTo>
                  <a:cubicBezTo>
                    <a:pt x="0" y="482092"/>
                    <a:pt x="496697" y="0"/>
                    <a:pt x="1108710" y="0"/>
                  </a:cubicBezTo>
                  <a:lnTo>
                    <a:pt x="1108710" y="12700"/>
                  </a:lnTo>
                  <a:lnTo>
                    <a:pt x="1108710" y="0"/>
                  </a:lnTo>
                  <a:cubicBezTo>
                    <a:pt x="1720723" y="0"/>
                    <a:pt x="2217420" y="482092"/>
                    <a:pt x="2217420" y="1077468"/>
                  </a:cubicBezTo>
                  <a:lnTo>
                    <a:pt x="2204720" y="1077468"/>
                  </a:lnTo>
                  <a:lnTo>
                    <a:pt x="2217420" y="1077468"/>
                  </a:lnTo>
                  <a:cubicBezTo>
                    <a:pt x="2217420" y="1672844"/>
                    <a:pt x="1720723" y="2154936"/>
                    <a:pt x="1108710" y="2154936"/>
                  </a:cubicBezTo>
                  <a:lnTo>
                    <a:pt x="1108710" y="2142236"/>
                  </a:lnTo>
                  <a:lnTo>
                    <a:pt x="1108710" y="2154936"/>
                  </a:lnTo>
                  <a:cubicBezTo>
                    <a:pt x="496697" y="2155063"/>
                    <a:pt x="0" y="1672971"/>
                    <a:pt x="0" y="1077468"/>
                  </a:cubicBezTo>
                  <a:lnTo>
                    <a:pt x="12700" y="1077468"/>
                  </a:lnTo>
                  <a:lnTo>
                    <a:pt x="25400" y="1077468"/>
                  </a:lnTo>
                  <a:lnTo>
                    <a:pt x="12700" y="1077468"/>
                  </a:lnTo>
                  <a:lnTo>
                    <a:pt x="0" y="1077468"/>
                  </a:lnTo>
                  <a:moveTo>
                    <a:pt x="25400" y="1077468"/>
                  </a:moveTo>
                  <a:cubicBezTo>
                    <a:pt x="25400" y="1084453"/>
                    <a:pt x="19685" y="1090168"/>
                    <a:pt x="12700" y="1090168"/>
                  </a:cubicBezTo>
                  <a:cubicBezTo>
                    <a:pt x="5715" y="1090168"/>
                    <a:pt x="0" y="1084453"/>
                    <a:pt x="0" y="1077468"/>
                  </a:cubicBezTo>
                  <a:cubicBezTo>
                    <a:pt x="0" y="1070483"/>
                    <a:pt x="5715" y="1064768"/>
                    <a:pt x="12700" y="1064768"/>
                  </a:cubicBezTo>
                  <a:cubicBezTo>
                    <a:pt x="19685" y="1064768"/>
                    <a:pt x="25400" y="1070483"/>
                    <a:pt x="25400" y="1077468"/>
                  </a:cubicBezTo>
                  <a:cubicBezTo>
                    <a:pt x="25400" y="1658239"/>
                    <a:pt x="510032" y="2129536"/>
                    <a:pt x="1108710" y="2129536"/>
                  </a:cubicBezTo>
                  <a:cubicBezTo>
                    <a:pt x="1707388" y="2129536"/>
                    <a:pt x="2192020" y="1658112"/>
                    <a:pt x="2192020" y="1077468"/>
                  </a:cubicBezTo>
                  <a:cubicBezTo>
                    <a:pt x="2192020" y="496824"/>
                    <a:pt x="1707388" y="25400"/>
                    <a:pt x="1108710" y="25400"/>
                  </a:cubicBezTo>
                  <a:lnTo>
                    <a:pt x="1108710" y="12700"/>
                  </a:lnTo>
                  <a:lnTo>
                    <a:pt x="1108710" y="25400"/>
                  </a:lnTo>
                  <a:cubicBezTo>
                    <a:pt x="510032" y="25400"/>
                    <a:pt x="25400" y="496824"/>
                    <a:pt x="25400" y="1077468"/>
                  </a:cubicBezTo>
                  <a:close/>
                </a:path>
              </a:pathLst>
            </a:custGeom>
            <a:solidFill>
              <a:srgbClr val="595959"/>
            </a:solidFill>
          </p:spPr>
        </p:sp>
        <p:sp>
          <p:nvSpPr>
            <p:cNvPr id="7" name="TextBox 7"/>
            <p:cNvSpPr txBox="1"/>
            <p:nvPr/>
          </p:nvSpPr>
          <p:spPr>
            <a:xfrm>
              <a:off x="0" y="-38100"/>
              <a:ext cx="2217395" cy="2193100"/>
            </a:xfrm>
            <a:prstGeom prst="rect">
              <a:avLst/>
            </a:prstGeom>
          </p:spPr>
          <p:txBody>
            <a:bodyPr lIns="50800" tIns="50800" rIns="50800" bIns="50800" rtlCol="0" anchor="ctr"/>
            <a:lstStyle/>
            <a:p>
              <a:pPr algn="ctr">
                <a:lnSpc>
                  <a:spcPts val="6719"/>
                </a:lnSpc>
              </a:pPr>
              <a:r>
                <a:rPr lang="en-US" sz="5599" b="1">
                  <a:solidFill>
                    <a:srgbClr val="000000"/>
                  </a:solidFill>
                  <a:latin typeface="Times New Roman Bold"/>
                  <a:ea typeface="Times New Roman Bold"/>
                  <a:cs typeface="Times New Roman Bold"/>
                  <a:sym typeface="Times New Roman Bold"/>
                </a:rPr>
                <a:t>6</a:t>
              </a:r>
            </a:p>
          </p:txBody>
        </p:sp>
      </p:grpSp>
      <p:grpSp>
        <p:nvGrpSpPr>
          <p:cNvPr id="8" name="Group 8"/>
          <p:cNvGrpSpPr/>
          <p:nvPr/>
        </p:nvGrpSpPr>
        <p:grpSpPr>
          <a:xfrm>
            <a:off x="13038125" y="555031"/>
            <a:ext cx="1792672" cy="614162"/>
            <a:chOff x="0" y="0"/>
            <a:chExt cx="2390229" cy="818883"/>
          </a:xfrm>
        </p:grpSpPr>
        <p:sp>
          <p:nvSpPr>
            <p:cNvPr id="9" name="Freeform 9"/>
            <p:cNvSpPr/>
            <p:nvPr/>
          </p:nvSpPr>
          <p:spPr>
            <a:xfrm>
              <a:off x="0" y="0"/>
              <a:ext cx="2390267" cy="818896"/>
            </a:xfrm>
            <a:custGeom>
              <a:avLst/>
              <a:gdLst/>
              <a:ahLst/>
              <a:cxnLst/>
              <a:rect l="l" t="t" r="r" b="b"/>
              <a:pathLst>
                <a:path w="2390267" h="818896">
                  <a:moveTo>
                    <a:pt x="0" y="0"/>
                  </a:moveTo>
                  <a:lnTo>
                    <a:pt x="2390267" y="0"/>
                  </a:lnTo>
                  <a:lnTo>
                    <a:pt x="2390267" y="818896"/>
                  </a:lnTo>
                  <a:lnTo>
                    <a:pt x="0" y="818896"/>
                  </a:lnTo>
                  <a:lnTo>
                    <a:pt x="0" y="0"/>
                  </a:lnTo>
                  <a:close/>
                </a:path>
              </a:pathLst>
            </a:custGeom>
            <a:blipFill>
              <a:blip r:embed="rId4"/>
              <a:stretch>
                <a:fillRect b="1"/>
              </a:stretch>
            </a:blipFill>
          </p:spPr>
        </p:sp>
      </p:grpSp>
      <p:grpSp>
        <p:nvGrpSpPr>
          <p:cNvPr id="10" name="Group 10"/>
          <p:cNvGrpSpPr/>
          <p:nvPr/>
        </p:nvGrpSpPr>
        <p:grpSpPr>
          <a:xfrm>
            <a:off x="2086813" y="555050"/>
            <a:ext cx="1856937" cy="614153"/>
            <a:chOff x="0" y="0"/>
            <a:chExt cx="2475916" cy="818871"/>
          </a:xfrm>
        </p:grpSpPr>
        <p:sp>
          <p:nvSpPr>
            <p:cNvPr id="11" name="Freeform 11"/>
            <p:cNvSpPr/>
            <p:nvPr/>
          </p:nvSpPr>
          <p:spPr>
            <a:xfrm>
              <a:off x="0" y="0"/>
              <a:ext cx="2475865" cy="818896"/>
            </a:xfrm>
            <a:custGeom>
              <a:avLst/>
              <a:gdLst/>
              <a:ahLst/>
              <a:cxnLst/>
              <a:rect l="l" t="t" r="r" b="b"/>
              <a:pathLst>
                <a:path w="2475865" h="818896">
                  <a:moveTo>
                    <a:pt x="0" y="0"/>
                  </a:moveTo>
                  <a:lnTo>
                    <a:pt x="2475865" y="0"/>
                  </a:lnTo>
                  <a:lnTo>
                    <a:pt x="2475865" y="818896"/>
                  </a:lnTo>
                  <a:lnTo>
                    <a:pt x="0" y="818896"/>
                  </a:lnTo>
                  <a:lnTo>
                    <a:pt x="0" y="0"/>
                  </a:lnTo>
                  <a:close/>
                </a:path>
              </a:pathLst>
            </a:custGeom>
            <a:blipFill>
              <a:blip r:embed="rId5"/>
              <a:stretch>
                <a:fillRect l="-11279" t="-107194" r="-10902" b="-162213"/>
              </a:stretch>
            </a:blipFill>
          </p:spPr>
        </p:sp>
      </p:grpSp>
      <p:grpSp>
        <p:nvGrpSpPr>
          <p:cNvPr id="12" name="Group 12"/>
          <p:cNvGrpSpPr/>
          <p:nvPr/>
        </p:nvGrpSpPr>
        <p:grpSpPr>
          <a:xfrm>
            <a:off x="1028700" y="2881070"/>
            <a:ext cx="9065446" cy="5066468"/>
            <a:chOff x="0" y="0"/>
            <a:chExt cx="1454346" cy="812800"/>
          </a:xfrm>
        </p:grpSpPr>
        <p:sp>
          <p:nvSpPr>
            <p:cNvPr id="13" name="Freeform 13"/>
            <p:cNvSpPr/>
            <p:nvPr/>
          </p:nvSpPr>
          <p:spPr>
            <a:xfrm>
              <a:off x="0" y="0"/>
              <a:ext cx="1454346" cy="812800"/>
            </a:xfrm>
            <a:custGeom>
              <a:avLst/>
              <a:gdLst/>
              <a:ahLst/>
              <a:cxnLst/>
              <a:rect l="l" t="t" r="r" b="b"/>
              <a:pathLst>
                <a:path w="1454346" h="812800">
                  <a:moveTo>
                    <a:pt x="19642" y="0"/>
                  </a:moveTo>
                  <a:lnTo>
                    <a:pt x="1434704" y="0"/>
                  </a:lnTo>
                  <a:cubicBezTo>
                    <a:pt x="1445551" y="0"/>
                    <a:pt x="1454346" y="8794"/>
                    <a:pt x="1454346" y="19642"/>
                  </a:cubicBezTo>
                  <a:lnTo>
                    <a:pt x="1454346" y="793158"/>
                  </a:lnTo>
                  <a:cubicBezTo>
                    <a:pt x="1454346" y="804006"/>
                    <a:pt x="1445551" y="812800"/>
                    <a:pt x="1434704" y="812800"/>
                  </a:cubicBezTo>
                  <a:lnTo>
                    <a:pt x="19642" y="812800"/>
                  </a:lnTo>
                  <a:cubicBezTo>
                    <a:pt x="8794" y="812800"/>
                    <a:pt x="0" y="804006"/>
                    <a:pt x="0" y="793158"/>
                  </a:cubicBezTo>
                  <a:lnTo>
                    <a:pt x="0" y="19642"/>
                  </a:lnTo>
                  <a:cubicBezTo>
                    <a:pt x="0" y="8794"/>
                    <a:pt x="8794" y="0"/>
                    <a:pt x="19642" y="0"/>
                  </a:cubicBezTo>
                  <a:close/>
                </a:path>
              </a:pathLst>
            </a:custGeom>
            <a:blipFill>
              <a:blip r:embed="rId6"/>
              <a:stretch>
                <a:fillRect t="-344" b="-344"/>
              </a:stretch>
            </a:blipFill>
            <a:ln w="19050" cap="rnd">
              <a:solidFill>
                <a:srgbClr val="000000"/>
              </a:solidFill>
              <a:prstDash val="solid"/>
              <a:round/>
            </a:ln>
          </p:spPr>
        </p:sp>
      </p:grpSp>
      <p:sp>
        <p:nvSpPr>
          <p:cNvPr id="14" name="TextBox 14"/>
          <p:cNvSpPr txBox="1"/>
          <p:nvPr/>
        </p:nvSpPr>
        <p:spPr>
          <a:xfrm>
            <a:off x="1153020" y="1763297"/>
            <a:ext cx="10198351" cy="1442923"/>
          </a:xfrm>
          <a:prstGeom prst="rect">
            <a:avLst/>
          </a:prstGeom>
        </p:spPr>
        <p:txBody>
          <a:bodyPr lIns="0" tIns="0" rIns="0" bIns="0" rtlCol="0" anchor="t">
            <a:spAutoFit/>
          </a:bodyPr>
          <a:lstStyle/>
          <a:p>
            <a:pPr algn="l">
              <a:lnSpc>
                <a:spcPts val="6480"/>
              </a:lnSpc>
            </a:pPr>
            <a:r>
              <a:rPr lang="en-US" sz="5400" u="sng">
                <a:solidFill>
                  <a:srgbClr val="FFFFFF"/>
                </a:solidFill>
                <a:latin typeface="Times New Roman"/>
                <a:ea typeface="Times New Roman"/>
                <a:cs typeface="Times New Roman"/>
                <a:sym typeface="Times New Roman"/>
              </a:rPr>
              <a:t>Screenshot &amp; Repository Link</a:t>
            </a:r>
          </a:p>
        </p:txBody>
      </p:sp>
      <p:grpSp>
        <p:nvGrpSpPr>
          <p:cNvPr id="15" name="Group 15"/>
          <p:cNvGrpSpPr/>
          <p:nvPr/>
        </p:nvGrpSpPr>
        <p:grpSpPr>
          <a:xfrm>
            <a:off x="10560656" y="4032107"/>
            <a:ext cx="6698644" cy="1655954"/>
            <a:chOff x="0" y="0"/>
            <a:chExt cx="1643964" cy="406400"/>
          </a:xfrm>
        </p:grpSpPr>
        <p:sp>
          <p:nvSpPr>
            <p:cNvPr id="16" name="Freeform 16"/>
            <p:cNvSpPr/>
            <p:nvPr/>
          </p:nvSpPr>
          <p:spPr>
            <a:xfrm>
              <a:off x="0" y="0"/>
              <a:ext cx="1643964" cy="406400"/>
            </a:xfrm>
            <a:custGeom>
              <a:avLst/>
              <a:gdLst/>
              <a:ahLst/>
              <a:cxnLst/>
              <a:rect l="l" t="t" r="r" b="b"/>
              <a:pathLst>
                <a:path w="1643964" h="406400">
                  <a:moveTo>
                    <a:pt x="1440764" y="0"/>
                  </a:moveTo>
                  <a:cubicBezTo>
                    <a:pt x="1552988" y="0"/>
                    <a:pt x="1643964" y="90976"/>
                    <a:pt x="1643964" y="203200"/>
                  </a:cubicBezTo>
                  <a:cubicBezTo>
                    <a:pt x="1643964" y="315424"/>
                    <a:pt x="1552988" y="406400"/>
                    <a:pt x="1440764" y="406400"/>
                  </a:cubicBezTo>
                  <a:lnTo>
                    <a:pt x="203200" y="406400"/>
                  </a:lnTo>
                  <a:cubicBezTo>
                    <a:pt x="90976" y="406400"/>
                    <a:pt x="0" y="315424"/>
                    <a:pt x="0" y="203200"/>
                  </a:cubicBezTo>
                  <a:cubicBezTo>
                    <a:pt x="0" y="90976"/>
                    <a:pt x="90976" y="0"/>
                    <a:pt x="203200" y="0"/>
                  </a:cubicBezTo>
                  <a:close/>
                </a:path>
              </a:pathLst>
            </a:custGeom>
            <a:solidFill>
              <a:srgbClr val="0E0E70"/>
            </a:solidFill>
            <a:ln w="38100" cap="sq">
              <a:solidFill>
                <a:srgbClr val="000000"/>
              </a:solidFill>
              <a:prstDash val="solid"/>
              <a:miter/>
            </a:ln>
          </p:spPr>
        </p:sp>
        <p:sp>
          <p:nvSpPr>
            <p:cNvPr id="17" name="TextBox 17"/>
            <p:cNvSpPr txBox="1"/>
            <p:nvPr/>
          </p:nvSpPr>
          <p:spPr>
            <a:xfrm>
              <a:off x="0" y="-38100"/>
              <a:ext cx="1643964" cy="444500"/>
            </a:xfrm>
            <a:prstGeom prst="rect">
              <a:avLst/>
            </a:prstGeom>
          </p:spPr>
          <p:txBody>
            <a:bodyPr lIns="36097" tIns="36097" rIns="36097" bIns="36097" rtlCol="0" anchor="ctr"/>
            <a:lstStyle/>
            <a:p>
              <a:pPr marL="0" lvl="0" indent="0" algn="ctr">
                <a:lnSpc>
                  <a:spcPts val="2659"/>
                </a:lnSpc>
                <a:spcBef>
                  <a:spcPct val="0"/>
                </a:spcBef>
              </a:pPr>
              <a:endParaRPr/>
            </a:p>
          </p:txBody>
        </p:sp>
      </p:grpSp>
      <p:sp>
        <p:nvSpPr>
          <p:cNvPr id="18" name="TextBox 18"/>
          <p:cNvSpPr txBox="1"/>
          <p:nvPr/>
        </p:nvSpPr>
        <p:spPr>
          <a:xfrm>
            <a:off x="11263776" y="4241089"/>
            <a:ext cx="5292403" cy="1171316"/>
          </a:xfrm>
          <a:prstGeom prst="rect">
            <a:avLst/>
          </a:prstGeom>
        </p:spPr>
        <p:txBody>
          <a:bodyPr lIns="0" tIns="0" rIns="0" bIns="0" rtlCol="0" anchor="t">
            <a:spAutoFit/>
          </a:bodyPr>
          <a:lstStyle/>
          <a:p>
            <a:pPr algn="ctr">
              <a:lnSpc>
                <a:spcPts val="4734"/>
              </a:lnSpc>
              <a:spcBef>
                <a:spcPct val="0"/>
              </a:spcBef>
            </a:pPr>
            <a:r>
              <a:rPr lang="en-US" sz="3382" u="sng" dirty="0">
                <a:solidFill>
                  <a:schemeClr val="bg2"/>
                </a:solidFill>
                <a:latin typeface="Chewy"/>
                <a:ea typeface="Chewy"/>
                <a:cs typeface="Chewy"/>
                <a:sym typeface="Chewy"/>
                <a:hlinkClick r:id="rId7" tooltip="https://github.com/YugPatel11/DataMorphix">
                  <a:extLst>
                    <a:ext uri="{A12FA001-AC4F-418D-AE19-62706E023703}">
                      <ahyp:hlinkClr xmlns:ahyp="http://schemas.microsoft.com/office/drawing/2018/hyperlinkcolor" val="tx"/>
                    </a:ext>
                  </a:extLst>
                </a:hlinkClick>
              </a:rPr>
              <a:t>https://github.com/YugPatel11/DataMorphix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288</Words>
  <Application>Microsoft Office PowerPoint</Application>
  <PresentationFormat>Custom</PresentationFormat>
  <Paragraphs>56</Paragraphs>
  <Slides>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Anton</vt:lpstr>
      <vt:lpstr>Times New Roman Bold</vt:lpstr>
      <vt:lpstr>Lilita One</vt:lpstr>
      <vt:lpstr>Inter</vt:lpstr>
      <vt:lpstr>Inter Bold</vt:lpstr>
      <vt:lpstr>Arial</vt:lpstr>
      <vt:lpstr>Times New Roman</vt:lpstr>
      <vt:lpstr>Canva Sans</vt:lpstr>
      <vt:lpstr>Calibri</vt:lpstr>
      <vt:lpstr>Chewy</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DataMorphix</dc:title>
  <cp:lastModifiedBy>Aman Yadav</cp:lastModifiedBy>
  <cp:revision>3</cp:revision>
  <dcterms:created xsi:type="dcterms:W3CDTF">2006-08-16T00:00:00Z</dcterms:created>
  <dcterms:modified xsi:type="dcterms:W3CDTF">2026-05-23T09:56:11Z</dcterms:modified>
  <dc:identifier>DAHJ6e3yTfI</dc:identifier>
</cp:coreProperties>
</file>